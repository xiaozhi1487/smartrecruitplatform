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1188720"/>
            <a:ext cx="10515600" cy="381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058400" cy="10972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4800" b="1">
                <a:solidFill>
                  <a:srgbClr val="FFFFFF"/>
                </a:solidFill>
                <a:latin typeface="微软雅黑"/>
                <a:ea typeface="微软雅黑"/>
              </a:rPr>
              <a:t>智聘通 智能招聘平台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0584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0">
                <a:solidFill>
                  <a:srgbClr val="DBEAFE"/>
                </a:solidFill>
                <a:latin typeface="微软雅黑"/>
                <a:ea typeface="微软雅黑"/>
              </a:rPr>
              <a:t>基于数据爬取 + DeepSeek 大模型的一站式求职招聘平台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754880"/>
            <a:ext cx="10058400" cy="10972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0">
                <a:solidFill>
                  <a:srgbClr val="475569"/>
                </a:solidFill>
                <a:latin typeface="微软雅黑"/>
                <a:ea typeface="微软雅黑"/>
              </a:rPr>
              <a:t>毕业设计答辩 | 汇报人：XXX | 指导教师：XXX</a:t>
            </a:r>
          </a:p>
          <a:p>
            <a:pPr algn="ctr">
              <a:spcAft>
                <a:spcPts val="400"/>
              </a:spcAft>
            </a:pPr>
            <a:r>
              <a:rPr sz="1300" b="0">
                <a:solidFill>
                  <a:srgbClr val="94A3B8"/>
                </a:solidFill>
                <a:latin typeface="微软雅黑"/>
                <a:ea typeface="微软雅黑"/>
              </a:rPr>
              <a:t>技术栈：Python · Flask · Vue3 · ECharts · Selenium · DeepSeek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381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6304"/>
            <a:ext cx="1005840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微软雅黑"/>
                <a:ea typeface="微软雅黑"/>
              </a:rPr>
              <a:t>目录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8368"/>
            <a:ext cx="10972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微软雅黑"/>
                <a:ea typeface="微软雅黑"/>
              </a:rPr>
              <a:t>CONTENTS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473952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FFFFFF"/>
                </a:solidFill>
                <a:latin typeface="微软雅黑"/>
                <a:ea typeface="微软雅黑"/>
              </a:rPr>
              <a:t>智聘通 · 智能招聘平台 | 毕业设计答辩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463040"/>
            <a:ext cx="45720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E293B"/>
                </a:solidFill>
                <a:latin typeface="微软雅黑"/>
                <a:ea typeface="微软雅黑"/>
              </a:rPr>
              <a:t>1  项目概述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1463040"/>
            <a:ext cx="201168" cy="20116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331720"/>
            <a:ext cx="45720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E293B"/>
                </a:solidFill>
                <a:latin typeface="微软雅黑"/>
                <a:ea typeface="微软雅黑"/>
              </a:rPr>
              <a:t>2  技术栈介绍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" y="2331720"/>
            <a:ext cx="201168" cy="20116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3200400"/>
            <a:ext cx="45720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E293B"/>
                </a:solidFill>
                <a:latin typeface="微软雅黑"/>
                <a:ea typeface="微软雅黑"/>
              </a:rPr>
              <a:t>3  项目总体架构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" y="3200400"/>
            <a:ext cx="201168" cy="20116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4069079"/>
            <a:ext cx="45720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E293B"/>
                </a:solidFill>
                <a:latin typeface="微软雅黑"/>
                <a:ea typeface="微软雅黑"/>
              </a:rPr>
              <a:t>4  核心功能实现</a:t>
            </a:r>
          </a:p>
        </p:txBody>
      </p:sp>
      <p:sp>
        <p:nvSpPr>
          <p:cNvPr id="16" name="Oval 15"/>
          <p:cNvSpPr/>
          <p:nvPr/>
        </p:nvSpPr>
        <p:spPr>
          <a:xfrm>
            <a:off x="731520" y="4069079"/>
            <a:ext cx="201168" cy="20116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4937760"/>
            <a:ext cx="45720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E293B"/>
                </a:solidFill>
                <a:latin typeface="微软雅黑"/>
                <a:ea typeface="微软雅黑"/>
              </a:rPr>
              <a:t>5  数据分析与可视化成果</a:t>
            </a:r>
          </a:p>
        </p:txBody>
      </p:sp>
      <p:sp>
        <p:nvSpPr>
          <p:cNvPr id="18" name="Oval 17"/>
          <p:cNvSpPr/>
          <p:nvPr/>
        </p:nvSpPr>
        <p:spPr>
          <a:xfrm>
            <a:off x="731520" y="4937760"/>
            <a:ext cx="201168" cy="20116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5806440"/>
            <a:ext cx="45720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E293B"/>
                </a:solidFill>
                <a:latin typeface="微软雅黑"/>
                <a:ea typeface="微软雅黑"/>
              </a:rPr>
              <a:t>6  项目难点与解决方案</a:t>
            </a:r>
          </a:p>
        </p:txBody>
      </p:sp>
      <p:sp>
        <p:nvSpPr>
          <p:cNvPr id="20" name="Oval 19"/>
          <p:cNvSpPr/>
          <p:nvPr/>
        </p:nvSpPr>
        <p:spPr>
          <a:xfrm>
            <a:off x="731520" y="5806440"/>
            <a:ext cx="201168" cy="20116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6675119"/>
            <a:ext cx="45720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E293B"/>
                </a:solidFill>
                <a:latin typeface="微软雅黑"/>
                <a:ea typeface="微软雅黑"/>
              </a:rPr>
              <a:t>7  项目总结与展望</a:t>
            </a:r>
          </a:p>
        </p:txBody>
      </p:sp>
      <p:sp>
        <p:nvSpPr>
          <p:cNvPr id="22" name="Oval 21"/>
          <p:cNvSpPr/>
          <p:nvPr/>
        </p:nvSpPr>
        <p:spPr>
          <a:xfrm>
            <a:off x="731520" y="6675119"/>
            <a:ext cx="201168" cy="20116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194560"/>
            <a:ext cx="3291840" cy="18288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F59E0B"/>
                </a:solidFill>
                <a:latin typeface="微软雅黑"/>
                <a:ea typeface="微软雅黑"/>
              </a:rPr>
              <a:t>PROJECT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606040"/>
            <a:ext cx="3291840" cy="18288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F1F5F9"/>
                </a:solidFill>
                <a:latin typeface="微软雅黑"/>
                <a:ea typeface="微软雅黑"/>
              </a:rPr>
              <a:t>智聘通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297680"/>
            <a:ext cx="3291840" cy="1463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6000" b="1">
                <a:solidFill>
                  <a:srgbClr val="2E3A4C"/>
                </a:solidFill>
                <a:latin typeface="微软雅黑"/>
                <a:ea typeface="微软雅黑"/>
              </a:rPr>
              <a:t>项目概述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46320" y="1371600"/>
            <a:ext cx="6675120" cy="10058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E293B"/>
                </a:solidFill>
                <a:latin typeface="微软雅黑"/>
                <a:ea typeface="微软雅黑"/>
              </a:rPr>
              <a:t>数据洪流下的求职痛点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0" y="2560320"/>
            <a:ext cx="6675120" cy="10058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E293B"/>
                </a:solidFill>
                <a:latin typeface="微软雅黑"/>
                <a:ea typeface="微软雅黑"/>
              </a:rPr>
              <a:t>一站式采集 + AI 匹配闭环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3749039"/>
            <a:ext cx="6675120" cy="10058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E293B"/>
                </a:solidFill>
                <a:latin typeface="微软雅黑"/>
                <a:ea typeface="微软雅黑"/>
              </a:rPr>
              <a:t>让求职决策有据可依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381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05840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微软雅黑"/>
                <a:ea typeface="微软雅黑"/>
              </a:rPr>
              <a:t>1.1 项目背景与应用场景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0972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微软雅黑"/>
                <a:ea typeface="微软雅黑"/>
              </a:rPr>
              <a:t>背景 · 场景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73952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FFFFFF"/>
                </a:solidFill>
                <a:latin typeface="微软雅黑"/>
                <a:ea typeface="微软雅黑"/>
              </a:rPr>
              <a:t>智聘通 · 智能招聘平台 | 毕业设计答辩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2563EB"/>
                </a:solidFill>
                <a:latin typeface="微软雅黑"/>
                <a:ea typeface="微软雅黑"/>
              </a:rPr>
              <a:t>项目背景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1737360"/>
            <a:ext cx="146304" cy="146304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691640"/>
            <a:ext cx="1051560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475569"/>
                </a:solidFill>
                <a:latin typeface="微软雅黑"/>
                <a:ea typeface="微软雅黑"/>
              </a:rPr>
              <a:t>招聘信息分散在多个平台，求职者需频繁切换、人工比对，效率低；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" y="2304288"/>
            <a:ext cx="146304" cy="146304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2258568"/>
            <a:ext cx="1051560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475569"/>
                </a:solidFill>
                <a:latin typeface="微软雅黑"/>
                <a:ea typeface="微软雅黑"/>
              </a:rPr>
              <a:t>薪资/技能/经验等字段口径不一（万/年、千/月、元/天），难以量化比较；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2871215"/>
            <a:ext cx="146304" cy="146304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2825496"/>
            <a:ext cx="1051560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475569"/>
                </a:solidFill>
                <a:latin typeface="微软雅黑"/>
                <a:ea typeface="微软雅黑"/>
              </a:rPr>
              <a:t>海量岗位造成信息过载，普通求职者缺少个性化筛选与专业指导；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3438144"/>
            <a:ext cx="146304" cy="146304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3392424"/>
            <a:ext cx="1051560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475569"/>
                </a:solidFill>
                <a:latin typeface="微软雅黑"/>
                <a:ea typeface="微软雅黑"/>
              </a:rPr>
              <a:t>近年 AI 大模型（DeepSeek）能力成熟，为智能化求职提供了可行性。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023360"/>
            <a:ext cx="109728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2563EB"/>
                </a:solidFill>
                <a:latin typeface="微软雅黑"/>
                <a:ea typeface="微软雅黑"/>
              </a:rPr>
              <a:t>应用场景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4480560"/>
            <a:ext cx="10515600" cy="1645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475569"/>
                </a:solidFill>
                <a:latin typeface="微软雅黑"/>
                <a:ea typeface="微软雅黑"/>
              </a:rPr>
              <a:t>求职者：浏览/收藏职位、画像建模、智能推荐、AI 职业助手多轮提问、简历优化；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475569"/>
                </a:solidFill>
                <a:latin typeface="微软雅黑"/>
                <a:ea typeface="微软雅黑"/>
              </a:rPr>
              <a:t>企业：按岗位发布并获取候选人匹配（嵌套 reverse 评分）；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475569"/>
                </a:solidFill>
                <a:latin typeface="微软雅黑"/>
                <a:ea typeface="微软雅黑"/>
              </a:rPr>
              <a:t>管理员：用户管理、爬虫任务监控与数据维护。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381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05840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微软雅黑"/>
                <a:ea typeface="微软雅黑"/>
              </a:rPr>
              <a:t>1.2 研究意义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0972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微软雅黑"/>
                <a:ea typeface="微软雅黑"/>
              </a:rPr>
              <a:t>价值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73952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FFFFFF"/>
                </a:solidFill>
                <a:latin typeface="微软雅黑"/>
                <a:ea typeface="微软雅黑"/>
              </a:rPr>
              <a:t>智聘通 · 智能招聘平台 | 毕业设计答辩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34440"/>
            <a:ext cx="10972800" cy="43891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2563EB"/>
                </a:solidFill>
                <a:latin typeface="微软雅黑"/>
                <a:ea typeface="微软雅黑"/>
              </a:rPr>
              <a:t>▍ 求职者：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475569"/>
                </a:solidFill>
                <a:latin typeface="微软雅黑"/>
                <a:ea typeface="微软雅黑"/>
              </a:rPr>
              <a:t>高效获取与自身画像匹配的职位，减少盲目投递；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475569"/>
                </a:solidFill>
                <a:latin typeface="微软雅黑"/>
                <a:ea typeface="微软雅黑"/>
              </a:rPr>
              <a:t>获得岗位深度解读与简历 AI 优化，提升命中率。</a:t>
            </a:r>
          </a:p>
          <a:p>
            <a:pPr algn="l"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微软雅黑"/>
                <a:ea typeface="微软雅黑"/>
              </a:rPr>
              <a:t>▍ 数据价值：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475569"/>
                </a:solidFill>
                <a:latin typeface="微软雅黑"/>
                <a:ea typeface="微软雅黑"/>
              </a:rPr>
              <a:t>将海量异构招聘数据归一化（统一 K/月），量化薪资/学历/地区影响，还原就业趋势。</a:t>
            </a:r>
          </a:p>
          <a:p>
            <a:pPr algn="l">
              <a:spcAft>
                <a:spcPts val="400"/>
              </a:spcAft>
            </a:pPr>
            <a:r>
              <a:rPr sz="1800" b="1">
                <a:solidFill>
                  <a:srgbClr val="F59E0B"/>
                </a:solidFill>
                <a:latin typeface="微软雅黑"/>
                <a:ea typeface="微软雅黑"/>
              </a:rPr>
              <a:t>▍ 技术意义：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475569"/>
                </a:solidFill>
                <a:latin typeface="微软雅黑"/>
                <a:ea typeface="微软雅黑"/>
              </a:rPr>
              <a:t>完整落地“数据采集→清洗→建模→匹配→AI 增强→可视化”工程链路，具备可扩展架构。</a:t>
            </a:r>
          </a:p>
          <a:p>
            <a:pPr algn="l">
              <a:spcAft>
                <a:spcPts val="400"/>
              </a:spcAft>
            </a:pPr>
            <a:r>
              <a:rPr sz="1800" b="1">
                <a:solidFill>
                  <a:srgbClr val="8B5CF6"/>
                </a:solidFill>
                <a:latin typeface="微软雅黑"/>
                <a:ea typeface="微软雅黑"/>
              </a:rPr>
              <a:t>▍ 研究方法参考：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475569"/>
                </a:solidFill>
                <a:latin typeface="微软雅黑"/>
                <a:ea typeface="微软雅黑"/>
              </a:rPr>
              <a:t>本课题所建立的招聘信息采集、岗位画像建模与 AI 辅助求职方法，可为同类就业分析研究提供借鉴。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381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05840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微软雅黑"/>
                <a:ea typeface="微软雅黑"/>
              </a:rPr>
              <a:t>1.3 项目目标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0972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微软雅黑"/>
                <a:ea typeface="微软雅黑"/>
              </a:rPr>
              <a:t>GOALS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73952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FFFFFF"/>
                </a:solidFill>
                <a:latin typeface="微软雅黑"/>
                <a:ea typeface="微软雅黑"/>
              </a:rPr>
              <a:t>智聘通 · 智能招聘平台 | 毕业设计答辩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5394960" cy="192024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600200"/>
            <a:ext cx="484632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2563EB"/>
                </a:solidFill>
                <a:latin typeface="微软雅黑"/>
                <a:ea typeface="微软雅黑"/>
              </a:rPr>
              <a:t>多源可靠的数据底座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194560"/>
            <a:ext cx="484632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475569"/>
                </a:solidFill>
                <a:latin typeface="微软雅黑"/>
                <a:ea typeface="微软雅黑"/>
              </a:rPr>
              <a:t>Selenium 多线程爬取 51job，抗反爬 + 自动降级，构建干净可用数据库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371600"/>
            <a:ext cx="5394960" cy="192024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1600200"/>
            <a:ext cx="484632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2563EB"/>
                </a:solidFill>
                <a:latin typeface="微软雅黑"/>
                <a:ea typeface="微软雅黑"/>
              </a:rPr>
              <a:t>个性化智能匹配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194560"/>
            <a:ext cx="484632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475569"/>
                </a:solidFill>
                <a:latin typeface="微软雅黑"/>
                <a:ea typeface="微软雅黑"/>
              </a:rPr>
              <a:t>技能/薪资/地点/经验/学历五维加权评分，求职端推荐 + 企业端候选匹配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657600"/>
            <a:ext cx="5394960" cy="192024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886200"/>
            <a:ext cx="484632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2563EB"/>
                </a:solidFill>
                <a:latin typeface="微软雅黑"/>
                <a:ea typeface="微软雅黑"/>
              </a:rPr>
              <a:t>AI 深度辅助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480560"/>
            <a:ext cx="484632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475569"/>
                </a:solidFill>
                <a:latin typeface="微软雅黑"/>
                <a:ea typeface="微软雅黑"/>
              </a:rPr>
              <a:t>DeepSeek 集成岗位解读、简历优化、职业助手，并自动归档形成可追问闭环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3657600"/>
            <a:ext cx="5394960" cy="192024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3886200"/>
            <a:ext cx="484632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2563EB"/>
                </a:solidFill>
                <a:latin typeface="微软雅黑"/>
                <a:ea typeface="微软雅黑"/>
              </a:rPr>
              <a:t>数据驱动可视化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4480560"/>
            <a:ext cx="484632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475569"/>
                </a:solidFill>
                <a:latin typeface="微软雅黑"/>
                <a:ea typeface="微软雅黑"/>
              </a:rPr>
              <a:t>ECharts 多维图表 + AI 结论，直观呈现就业市场趋势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194560"/>
            <a:ext cx="3291840" cy="18288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F59E0B"/>
                </a:solidFill>
                <a:latin typeface="微软雅黑"/>
                <a:ea typeface="微软雅黑"/>
              </a:rPr>
              <a:t>TECH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606040"/>
            <a:ext cx="3291840" cy="18288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F1F5F9"/>
                </a:solidFill>
                <a:latin typeface="微软雅黑"/>
                <a:ea typeface="微软雅黑"/>
              </a:rPr>
              <a:t>智聘通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297680"/>
            <a:ext cx="3291840" cy="1463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6000" b="1">
                <a:solidFill>
                  <a:srgbClr val="2E3A4C"/>
                </a:solidFill>
                <a:latin typeface="微软雅黑"/>
                <a:ea typeface="微软雅黑"/>
              </a:rPr>
              <a:t>技术栈介绍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46320" y="1371600"/>
            <a:ext cx="6675120" cy="10058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E293B"/>
                </a:solidFill>
                <a:latin typeface="微软雅黑"/>
                <a:ea typeface="微软雅黑"/>
              </a:rPr>
              <a:t>语言 · 框架 · 工具 · 数据库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0" y="2560320"/>
            <a:ext cx="6675120" cy="10058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E293B"/>
                </a:solidFill>
                <a:latin typeface="微软雅黑"/>
                <a:ea typeface="微软雅黑"/>
              </a:rPr>
              <a:t>AI 大模型能力接入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3749039"/>
            <a:ext cx="6675120" cy="10058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E293B"/>
                </a:solidFill>
                <a:latin typeface="微软雅黑"/>
                <a:ea typeface="微软雅黑"/>
              </a:rPr>
              <a:t>前后端分离架构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381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05840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微软雅黑"/>
                <a:ea typeface="微软雅黑"/>
              </a:rPr>
              <a:t>2.1 技术栈一览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0972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微软雅黑"/>
                <a:ea typeface="微软雅黑"/>
              </a:rPr>
              <a:t>LANGUAGE · FRAMEWORK · TOOL · DB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73952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FFFFFF"/>
                </a:solidFill>
                <a:latin typeface="微软雅黑"/>
                <a:ea typeface="微软雅黑"/>
              </a:rPr>
              <a:t>智聘通 · 智能招聘平台 | 毕业设计答辩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280160"/>
            <a:ext cx="1737360" cy="749808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417319"/>
            <a:ext cx="17373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后端语言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1371600"/>
            <a:ext cx="4297680" cy="56692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E293B"/>
                </a:solidFill>
                <a:latin typeface="微软雅黑"/>
                <a:ea typeface="微软雅黑"/>
              </a:rPr>
              <a:t>Python 3.9+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0" y="1280160"/>
            <a:ext cx="1737360" cy="749808"/>
          </a:xfrm>
          <a:prstGeom prst="roundRect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0" y="1417319"/>
            <a:ext cx="17373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2563EB"/>
                </a:solidFill>
                <a:latin typeface="微软雅黑"/>
                <a:ea typeface="微软雅黑"/>
              </a:rPr>
              <a:t>Web 框架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0" y="1371600"/>
            <a:ext cx="3017520" cy="56692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475569"/>
                </a:solidFill>
                <a:latin typeface="微软雅黑"/>
                <a:ea typeface="微软雅黑"/>
              </a:rPr>
              <a:t>Flask 3 / Flask-SQLAlchemy / JWT / Bcrypt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240280"/>
            <a:ext cx="1737360" cy="749808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2377440"/>
            <a:ext cx="17373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爬虫工具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68880" y="2331720"/>
            <a:ext cx="4297680" cy="56692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E293B"/>
                </a:solidFill>
                <a:latin typeface="微软雅黑"/>
                <a:ea typeface="微软雅黑"/>
              </a:rPr>
              <a:t>Selenium + Edge WebDriver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0" y="2240280"/>
            <a:ext cx="1737360" cy="749808"/>
          </a:xfrm>
          <a:prstGeom prst="roundRect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0" y="2377440"/>
            <a:ext cx="17373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2563EB"/>
                </a:solidFill>
                <a:latin typeface="微软雅黑"/>
                <a:ea typeface="微软雅黑"/>
              </a:rPr>
              <a:t>调度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78240" y="2331720"/>
            <a:ext cx="3017520" cy="56692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475569"/>
                </a:solidFill>
                <a:latin typeface="微软雅黑"/>
                <a:ea typeface="微软雅黑"/>
              </a:rPr>
              <a:t>APScheduler（每 6h 定时爬取）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200400"/>
            <a:ext cx="1737360" cy="749808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3337560"/>
            <a:ext cx="17373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前端框架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68880" y="3291840"/>
            <a:ext cx="4297680" cy="56692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E293B"/>
                </a:solidFill>
                <a:latin typeface="微软雅黑"/>
                <a:ea typeface="微软雅黑"/>
              </a:rPr>
              <a:t>Vue 3 + Vite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0" y="3200400"/>
            <a:ext cx="1737360" cy="749808"/>
          </a:xfrm>
          <a:prstGeom prst="roundRect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0" y="3337560"/>
            <a:ext cx="17373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2563EB"/>
                </a:solidFill>
                <a:latin typeface="微软雅黑"/>
                <a:ea typeface="微软雅黑"/>
              </a:rPr>
              <a:t>UI / 图表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78240" y="3291840"/>
            <a:ext cx="3017520" cy="56692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475569"/>
                </a:solidFill>
                <a:latin typeface="微软雅黑"/>
                <a:ea typeface="微软雅黑"/>
              </a:rPr>
              <a:t>Element Plus / ECharts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4160520"/>
            <a:ext cx="1737360" cy="749808"/>
          </a:xfrm>
          <a:prstGeom prst="round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4297680"/>
            <a:ext cx="17373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状态 / 路由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468880" y="4251959"/>
            <a:ext cx="4297680" cy="56692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E293B"/>
                </a:solidFill>
                <a:latin typeface="微软雅黑"/>
                <a:ea typeface="微软雅黑"/>
              </a:rPr>
              <a:t>Pinia / Vue Router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858000" y="4160520"/>
            <a:ext cx="1737360" cy="749808"/>
          </a:xfrm>
          <a:prstGeom prst="roundRect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0" y="4297680"/>
            <a:ext cx="17373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2563EB"/>
                </a:solidFill>
                <a:latin typeface="微软雅黑"/>
                <a:ea typeface="微软雅黑"/>
              </a:rPr>
              <a:t>HTTP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78240" y="4251959"/>
            <a:ext cx="3017520" cy="56692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475569"/>
                </a:solidFill>
                <a:latin typeface="微软雅黑"/>
                <a:ea typeface="微软雅黑"/>
              </a:rPr>
              <a:t>Axios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" y="5120640"/>
            <a:ext cx="1737360" cy="749808"/>
          </a:xfrm>
          <a:prstGeom prst="roundRect">
            <a:avLst/>
          </a:prstGeom>
          <a:solidFill>
            <a:srgbClr val="0E7A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5257800"/>
            <a:ext cx="17373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数据库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468880" y="5212079"/>
            <a:ext cx="4297680" cy="56692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E293B"/>
                </a:solidFill>
                <a:latin typeface="微软雅黑"/>
                <a:ea typeface="微软雅黑"/>
              </a:rPr>
              <a:t>SQLite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858000" y="5120640"/>
            <a:ext cx="1737360" cy="749808"/>
          </a:xfrm>
          <a:prstGeom prst="roundRect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58000" y="5257800"/>
            <a:ext cx="17373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2563EB"/>
                </a:solidFill>
                <a:latin typeface="微软雅黑"/>
                <a:ea typeface="微软雅黑"/>
              </a:rPr>
              <a:t>AI 模型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78240" y="5212079"/>
            <a:ext cx="3017520" cy="56692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475569"/>
                </a:solidFill>
                <a:latin typeface="微软雅黑"/>
                <a:ea typeface="微软雅黑"/>
              </a:rPr>
              <a:t>DeepSeek Chat Completions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6035040"/>
            <a:ext cx="11064240" cy="457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1520" y="6089904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475569"/>
                </a:solidFill>
                <a:latin typeface="微软雅黑"/>
                <a:ea typeface="微软雅黑"/>
              </a:rPr>
              <a:t>选型理由：Flask 轻量易定制 · Vue3+Element 生态成熟 · SQLite 单机演示友好 · DeepSeek 成本低且支持 JSON 结构化输出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194560"/>
            <a:ext cx="3291840" cy="18288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F59E0B"/>
                </a:solidFill>
                <a:latin typeface="微软雅黑"/>
                <a:ea typeface="微软雅黑"/>
              </a:rPr>
              <a:t>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606040"/>
            <a:ext cx="3291840" cy="18288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F1F5F9"/>
                </a:solidFill>
                <a:latin typeface="微软雅黑"/>
                <a:ea typeface="微软雅黑"/>
              </a:rPr>
              <a:t>智聘通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297680"/>
            <a:ext cx="3291840" cy="1463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6000" b="1">
                <a:solidFill>
                  <a:srgbClr val="2E3A4C"/>
                </a:solidFill>
                <a:latin typeface="微软雅黑"/>
                <a:ea typeface="微软雅黑"/>
              </a:rPr>
              <a:t>项目总体架构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46320" y="1371600"/>
            <a:ext cx="6675120" cy="10058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E293B"/>
                </a:solidFill>
                <a:latin typeface="微软雅黑"/>
                <a:ea typeface="微软雅黑"/>
              </a:rPr>
              <a:t>分层式整体设计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0" y="2560320"/>
            <a:ext cx="6675120" cy="10058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E293B"/>
                </a:solidFill>
                <a:latin typeface="微软雅黑"/>
                <a:ea typeface="微软雅黑"/>
              </a:rPr>
              <a:t>数据→采集→处理→分析→可视化→展示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3749039"/>
            <a:ext cx="6675120" cy="10058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E293B"/>
                </a:solidFill>
                <a:latin typeface="微软雅黑"/>
                <a:ea typeface="微软雅黑"/>
              </a:rPr>
              <a:t>功能模块与业务闭环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381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05840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微软雅黑"/>
                <a:ea typeface="微软雅黑"/>
              </a:rPr>
              <a:t>3.1 数据流转总体架构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0972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微软雅黑"/>
                <a:ea typeface="微软雅黑"/>
              </a:rPr>
              <a:t>数据采集 → 处理 → 分析 → 可视化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73952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FFFFFF"/>
                </a:solidFill>
                <a:latin typeface="微软雅黑"/>
                <a:ea typeface="微软雅黑"/>
              </a:rPr>
              <a:t>智聘通 · 智能招聘平台 | 毕业设计答辩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63040"/>
            <a:ext cx="1828800" cy="658368"/>
          </a:xfrm>
          <a:prstGeom prst="roundRect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463040"/>
            <a:ext cx="1828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2563EB"/>
                </a:solidFill>
                <a:latin typeface="微软雅黑"/>
                <a:ea typeface="微软雅黑"/>
              </a:rPr>
              <a:t>数据来源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609344"/>
            <a:ext cx="164592" cy="3657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0" y="1463040"/>
            <a:ext cx="8412480" cy="60350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475569"/>
                </a:solidFill>
                <a:latin typeface="微软雅黑"/>
                <a:ea typeface="微软雅黑"/>
              </a:rPr>
              <a:t>前程无忧 51job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1463040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F59E0B"/>
                </a:solidFill>
                <a:latin typeface="微软雅黑"/>
                <a:ea typeface="微软雅黑"/>
              </a:rPr>
              <a:t>▼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2304288"/>
            <a:ext cx="1828800" cy="658368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2304288"/>
            <a:ext cx="1828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数据采集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2450592"/>
            <a:ext cx="164592" cy="3657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0" y="2304288"/>
            <a:ext cx="8412480" cy="60350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475569"/>
                </a:solidFill>
                <a:latin typeface="微软雅黑"/>
                <a:ea typeface="微软雅黑"/>
              </a:rPr>
              <a:t>Selenium 多线程 · 抗反爬 · 定时任务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2304288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F59E0B"/>
                </a:solidFill>
                <a:latin typeface="微软雅黑"/>
                <a:ea typeface="微软雅黑"/>
              </a:rPr>
              <a:t>▼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145536"/>
            <a:ext cx="1828800" cy="658368"/>
          </a:xfrm>
          <a:prstGeom prst="round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145536"/>
            <a:ext cx="1828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数据处理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3291840"/>
            <a:ext cx="164592" cy="3657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43200" y="3145536"/>
            <a:ext cx="8412480" cy="60350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475569"/>
                </a:solidFill>
                <a:latin typeface="微软雅黑"/>
                <a:ea typeface="微软雅黑"/>
              </a:rPr>
              <a:t>清洗归一化（薪资→K/月）· 画像入库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3145536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F59E0B"/>
                </a:solidFill>
                <a:latin typeface="微软雅黑"/>
                <a:ea typeface="微软雅黑"/>
              </a:rPr>
              <a:t>▼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3986784"/>
            <a:ext cx="1828800" cy="658368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3986784"/>
            <a:ext cx="1828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数据分析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4133088"/>
            <a:ext cx="164592" cy="3657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43200" y="3986784"/>
            <a:ext cx="8412480" cy="60350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475569"/>
                </a:solidFill>
                <a:latin typeface="微软雅黑"/>
                <a:ea typeface="微软雅黑"/>
              </a:rPr>
              <a:t>五维匹配 · 多维聚合 · DeepSeek 推理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" y="3986784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F59E0B"/>
                </a:solidFill>
                <a:latin typeface="微软雅黑"/>
                <a:ea typeface="微软雅黑"/>
              </a:rPr>
              <a:t>▼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5800" y="4828032"/>
            <a:ext cx="1828800" cy="658368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" y="4828032"/>
            <a:ext cx="1828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数据可视化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4974336"/>
            <a:ext cx="164592" cy="3657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43200" y="4828032"/>
            <a:ext cx="8412480" cy="60350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475569"/>
                </a:solidFill>
                <a:latin typeface="微软雅黑"/>
                <a:ea typeface="微软雅黑"/>
              </a:rPr>
              <a:t>ECharts 图表 · AI 结论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" y="4828032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F59E0B"/>
                </a:solidFill>
                <a:latin typeface="微软雅黑"/>
                <a:ea typeface="微软雅黑"/>
              </a:rPr>
              <a:t>▼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85800" y="5669280"/>
            <a:ext cx="1828800" cy="658368"/>
          </a:xfrm>
          <a:prstGeom prst="roundRect">
            <a:avLst/>
          </a:prstGeom>
          <a:solidFill>
            <a:srgbClr val="E07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5800" y="5669280"/>
            <a:ext cx="1828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系统展示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2920" y="5815584"/>
            <a:ext cx="164592" cy="3657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743200" y="5669280"/>
            <a:ext cx="8412480" cy="60350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475569"/>
                </a:solidFill>
                <a:latin typeface="微软雅黑"/>
                <a:ea typeface="微软雅黑"/>
              </a:rPr>
              <a:t>职位大厅 · 智能推荐 · 市场分析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381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05840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微软雅黑"/>
                <a:ea typeface="微软雅黑"/>
              </a:rPr>
              <a:t>3.2 模块化整体设计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0972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微软雅黑"/>
                <a:ea typeface="微软雅黑"/>
              </a:rPr>
              <a:t>整体 · 功能模块 · 业务流程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73952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FFFFFF"/>
                </a:solidFill>
                <a:latin typeface="微软雅黑"/>
                <a:ea typeface="微软雅黑"/>
              </a:rPr>
              <a:t>智聘通 · 智能招聘平台 | 毕业设计答辩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234440"/>
            <a:ext cx="1645920" cy="54864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316736"/>
            <a:ext cx="164592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</a:rPr>
              <a:t>前端层 Vue3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68880" y="1143000"/>
            <a:ext cx="2788920" cy="54864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68880" y="1216152"/>
            <a:ext cx="278892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求职端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468880" y="1737360"/>
            <a:ext cx="2788920" cy="45720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68880" y="1792224"/>
            <a:ext cx="278892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E293B"/>
                </a:solidFill>
                <a:latin typeface="微软雅黑"/>
                <a:ea typeface="微软雅黑"/>
              </a:rPr>
              <a:t>职位大厅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468880" y="2286000"/>
            <a:ext cx="2788920" cy="45720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468880" y="2340864"/>
            <a:ext cx="278892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E293B"/>
                </a:solidFill>
                <a:latin typeface="微软雅黑"/>
                <a:ea typeface="微软雅黑"/>
              </a:rPr>
              <a:t>智能推荐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468880" y="2834639"/>
            <a:ext cx="2788920" cy="45720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68880" y="2889504"/>
            <a:ext cx="278892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E293B"/>
                </a:solidFill>
                <a:latin typeface="微软雅黑"/>
                <a:ea typeface="微软雅黑"/>
              </a:rPr>
              <a:t>简历管理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468880" y="3383279"/>
            <a:ext cx="2788920" cy="45720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468880" y="3438144"/>
            <a:ext cx="278892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E293B"/>
                </a:solidFill>
                <a:latin typeface="微软雅黑"/>
                <a:ea typeface="微软雅黑"/>
              </a:rPr>
              <a:t>AI职业助手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468880" y="3931920"/>
            <a:ext cx="2788920" cy="45720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468880" y="3986783"/>
            <a:ext cx="278892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E293B"/>
                </a:solidFill>
                <a:latin typeface="微软雅黑"/>
                <a:ea typeface="微软雅黑"/>
              </a:rPr>
              <a:t>市场分析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468880" y="4480560"/>
            <a:ext cx="2788920" cy="45720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468880" y="4535424"/>
            <a:ext cx="278892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E293B"/>
                </a:solidFill>
                <a:latin typeface="微软雅黑"/>
                <a:ea typeface="微软雅黑"/>
              </a:rPr>
              <a:t>我的收藏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0" y="1143000"/>
            <a:ext cx="2788920" cy="54864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0" y="1216152"/>
            <a:ext cx="278892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企业端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0" y="1737360"/>
            <a:ext cx="2788920" cy="45720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0" y="1792224"/>
            <a:ext cx="278892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E293B"/>
                </a:solidFill>
                <a:latin typeface="微软雅黑"/>
                <a:ea typeface="微软雅黑"/>
              </a:rPr>
              <a:t>职位管理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0" y="2286000"/>
            <a:ext cx="2788920" cy="45720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0" y="2340864"/>
            <a:ext cx="278892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E293B"/>
                </a:solidFill>
                <a:latin typeface="微软雅黑"/>
                <a:ea typeface="微软雅黑"/>
              </a:rPr>
              <a:t>候选人匹配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503920" y="1143000"/>
            <a:ext cx="2788920" cy="54864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03920" y="1216152"/>
            <a:ext cx="278892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管理端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503920" y="1737360"/>
            <a:ext cx="2788920" cy="45720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03920" y="1792224"/>
            <a:ext cx="278892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E293B"/>
                </a:solidFill>
                <a:latin typeface="微软雅黑"/>
                <a:ea typeface="微软雅黑"/>
              </a:rPr>
              <a:t>用户管理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503920" y="2286000"/>
            <a:ext cx="2788920" cy="45720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503920" y="2340864"/>
            <a:ext cx="278892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E293B"/>
                </a:solidFill>
                <a:latin typeface="微软雅黑"/>
                <a:ea typeface="微软雅黑"/>
              </a:rPr>
              <a:t>爬虫控制台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5166360"/>
            <a:ext cx="10972800" cy="12801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475569"/>
                </a:solidFill>
                <a:latin typeface="微软雅黑"/>
                <a:ea typeface="微软雅黑"/>
              </a:rPr>
              <a:t>业务闭环：登录 → 简历/画像建模 → 智能推荐 → AI 解读（自动归档职业助手）→ 投递决策 → 市场分析复盘就业趋势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194560"/>
            <a:ext cx="3291840" cy="18288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F59E0B"/>
                </a:solidFill>
                <a:latin typeface="微软雅黑"/>
                <a:ea typeface="微软雅黑"/>
              </a:rPr>
              <a:t>CORE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606040"/>
            <a:ext cx="3291840" cy="18288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F1F5F9"/>
                </a:solidFill>
                <a:latin typeface="微软雅黑"/>
                <a:ea typeface="微软雅黑"/>
              </a:rPr>
              <a:t>智聘通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297680"/>
            <a:ext cx="3291840" cy="1463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6000" b="1">
                <a:solidFill>
                  <a:srgbClr val="2E3A4C"/>
                </a:solidFill>
                <a:latin typeface="微软雅黑"/>
                <a:ea typeface="微软雅黑"/>
              </a:rPr>
              <a:t>核心功能实现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46320" y="1371600"/>
            <a:ext cx="6675120" cy="10058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E293B"/>
                </a:solidFill>
                <a:latin typeface="微软雅黑"/>
                <a:ea typeface="微软雅黑"/>
              </a:rPr>
              <a:t>采集 → 清洗 → 分析 → 展示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0" y="2560320"/>
            <a:ext cx="6675120" cy="10058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E293B"/>
                </a:solidFill>
                <a:latin typeface="微软雅黑"/>
                <a:ea typeface="微软雅黑"/>
              </a:rPr>
              <a:t>五维推荐算法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3749039"/>
            <a:ext cx="6675120" cy="10058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E293B"/>
                </a:solidFill>
                <a:latin typeface="微软雅黑"/>
                <a:ea typeface="微软雅黑"/>
              </a:rPr>
              <a:t>AI 自动归档闭环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381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05840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微软雅黑"/>
                <a:ea typeface="微软雅黑"/>
              </a:rPr>
              <a:t>4.1 数据处理流程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0972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微软雅黑"/>
                <a:ea typeface="微软雅黑"/>
              </a:rPr>
              <a:t>采集 → 清洗 → 模型 → 可视化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73952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FFFFFF"/>
                </a:solidFill>
                <a:latin typeface="微软雅黑"/>
                <a:ea typeface="微软雅黑"/>
              </a:rPr>
              <a:t>智聘通 · 智能招聘平台 | 毕业设计答辩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280160"/>
            <a:ext cx="5394960" cy="210312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280160"/>
            <a:ext cx="128016" cy="21031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463040"/>
            <a:ext cx="475488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2563EB"/>
                </a:solidFill>
                <a:latin typeface="微软雅黑"/>
                <a:ea typeface="微软雅黑"/>
              </a:rPr>
              <a:t>数据采集模块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011680"/>
            <a:ext cx="4754880" cy="12801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475569"/>
                </a:solidFill>
                <a:latin typeface="微软雅黑"/>
                <a:ea typeface="微软雅黑"/>
              </a:rPr>
              <a:t>Selenium 加载 SPA 列表页提取 .joblist-item 卡片；SPA+手机版双源；CDP 附加复用登录态；UA/代理/间隔/验证码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0" y="2103120"/>
            <a:ext cx="5486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59E0B"/>
                </a:solidFill>
                <a:latin typeface="微软雅黑"/>
                <a:ea typeface="微软雅黑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280160"/>
            <a:ext cx="5394960" cy="210312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1280160"/>
            <a:ext cx="128016" cy="21031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60" y="1463040"/>
            <a:ext cx="475488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2563EB"/>
                </a:solidFill>
                <a:latin typeface="微软雅黑"/>
                <a:ea typeface="微软雅黑"/>
              </a:rPr>
              <a:t>清洗模块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2011680"/>
            <a:ext cx="4754880" cy="12801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475569"/>
                </a:solidFill>
                <a:latin typeface="微软雅黑"/>
                <a:ea typeface="微软雅黑"/>
              </a:rPr>
              <a:t>解析薪资文本 → 归一化 K/月（万÷10、万/年÷12、元/天×22）；技能标签 JSON；城市代码映射 28 城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84280" y="2103120"/>
            <a:ext cx="5486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59E0B"/>
                </a:solidFill>
                <a:latin typeface="微软雅黑"/>
                <a:ea typeface="微软雅黑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657600"/>
            <a:ext cx="5394960" cy="210312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3657600"/>
            <a:ext cx="128016" cy="21031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3840480"/>
            <a:ext cx="475488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2563EB"/>
                </a:solidFill>
                <a:latin typeface="微软雅黑"/>
                <a:ea typeface="微软雅黑"/>
              </a:rPr>
              <a:t>分析模型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389120"/>
            <a:ext cx="4754880" cy="12801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475569"/>
                </a:solidFill>
                <a:latin typeface="微软雅黑"/>
                <a:ea typeface="微软雅黑"/>
              </a:rPr>
              <a:t>五维加权匹配评分（权重见右图）；市场数据多维聚合；DeepSeek 生成解读/结论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60720" y="4480560"/>
            <a:ext cx="5486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59E0B"/>
                </a:solidFill>
                <a:latin typeface="微软雅黑"/>
                <a:ea typeface="微软雅黑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72200" y="3657600"/>
            <a:ext cx="5394960" cy="210312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72200" y="3657600"/>
            <a:ext cx="128016" cy="21031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37960" y="3840480"/>
            <a:ext cx="475488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2563EB"/>
                </a:solidFill>
                <a:latin typeface="微软雅黑"/>
                <a:ea typeface="微软雅黑"/>
              </a:rPr>
              <a:t>可视化展示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37960" y="4389120"/>
            <a:ext cx="4754880" cy="12801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475569"/>
                </a:solidFill>
                <a:latin typeface="微软雅黑"/>
                <a:ea typeface="微软雅黑"/>
              </a:rPr>
              <a:t>ECharts 柱/饼/横向条形；岗位需求、平均薪资、学历影响、学历分布、地区排行 + AI 结论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381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05840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微软雅黑"/>
                <a:ea typeface="微软雅黑"/>
              </a:rPr>
              <a:t>4.2 核心算法：五维加权匹配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0972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微软雅黑"/>
                <a:ea typeface="微软雅黑"/>
              </a:rPr>
              <a:t>技能 0.40 · 薪资 0.20 · 地点 0.15 · 经验 0.15 · 学历 0.10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73952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FFFFFF"/>
                </a:solidFill>
                <a:latin typeface="微软雅黑"/>
                <a:ea typeface="微软雅黑"/>
              </a:rPr>
              <a:t>智聘通 · 智能招聘平台 | 毕业设计答辩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463040" cy="566928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463040"/>
            <a:ext cx="14630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技能匹配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77440" y="1499616"/>
            <a:ext cx="5669280" cy="310896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377440" y="1499616"/>
            <a:ext cx="1828800" cy="31089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68880" y="1499616"/>
            <a:ext cx="5486400" cy="310896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40%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1444752"/>
            <a:ext cx="338328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475569"/>
                </a:solidFill>
                <a:latin typeface="微软雅黑"/>
                <a:ea typeface="微软雅黑"/>
              </a:rPr>
              <a:t>与职位标签/标题关键词求交集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103120"/>
            <a:ext cx="1463040" cy="566928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194560"/>
            <a:ext cx="14630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薪资匹配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377440" y="2231136"/>
            <a:ext cx="5669280" cy="310896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377440" y="2231136"/>
            <a:ext cx="914400" cy="31089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468880" y="2231136"/>
            <a:ext cx="5486400" cy="310896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20%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2176272"/>
            <a:ext cx="338328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475569"/>
                </a:solidFill>
                <a:latin typeface="微软雅黑"/>
                <a:ea typeface="微软雅黑"/>
              </a:rPr>
              <a:t>期望区间 × 职位区间 重叠率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2834639"/>
            <a:ext cx="1463040" cy="566928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2926079"/>
            <a:ext cx="14630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地点匹配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377440" y="2962656"/>
            <a:ext cx="5669280" cy="310896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377440" y="2962656"/>
            <a:ext cx="0" cy="3108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468880" y="2962656"/>
            <a:ext cx="5486400" cy="310896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15%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2907791"/>
            <a:ext cx="338328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475569"/>
                </a:solidFill>
                <a:latin typeface="微软雅黑"/>
                <a:ea typeface="微软雅黑"/>
              </a:rPr>
              <a:t>城市一致判定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3566159"/>
            <a:ext cx="1463040" cy="566928"/>
          </a:xfrm>
          <a:prstGeom prst="round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3657599"/>
            <a:ext cx="14630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经验匹配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377440" y="3694175"/>
            <a:ext cx="5669280" cy="310896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377440" y="3694175"/>
            <a:ext cx="0" cy="310896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468880" y="3694175"/>
            <a:ext cx="5486400" cy="310896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15%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1040" y="3639311"/>
            <a:ext cx="338328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475569"/>
                </a:solidFill>
                <a:latin typeface="微软雅黑"/>
                <a:ea typeface="微软雅黑"/>
              </a:rPr>
              <a:t>年限档位差缩放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" y="4297679"/>
            <a:ext cx="1463040" cy="566928"/>
          </a:xfrm>
          <a:prstGeom prst="roundRect">
            <a:avLst/>
          </a:prstGeom>
          <a:solidFill>
            <a:srgbClr val="0E7A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4389119"/>
            <a:ext cx="14630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学历匹配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377440" y="4425695"/>
            <a:ext cx="5669280" cy="310896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377440" y="4425695"/>
            <a:ext cx="0" cy="310896"/>
          </a:xfrm>
          <a:prstGeom prst="rect">
            <a:avLst/>
          </a:prstGeom>
          <a:solidFill>
            <a:srgbClr val="0E7A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468880" y="4425695"/>
            <a:ext cx="5486400" cy="310896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10%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21040" y="4370831"/>
            <a:ext cx="338328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475569"/>
                </a:solidFill>
                <a:latin typeface="微软雅黑"/>
                <a:ea typeface="微软雅黑"/>
              </a:rPr>
              <a:t>学历等级差缩放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5212080"/>
            <a:ext cx="10972800" cy="10972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E293B"/>
                </a:solidFill>
                <a:latin typeface="微软雅黑"/>
                <a:ea typeface="微软雅黑"/>
              </a:rPr>
              <a:t>综合分 = Σ(维度分 × 权重)，≥20 进入候选，按分降序返回 Top10 并生成匹配原因；</a:t>
            </a:r>
          </a:p>
          <a:p>
            <a:pPr algn="l">
              <a:spcAft>
                <a:spcPts val="400"/>
              </a:spcAft>
            </a:pPr>
            <a:r>
              <a:rPr sz="1400" b="1">
                <a:solidFill>
                  <a:srgbClr val="1E293B"/>
                </a:solidFill>
                <a:latin typeface="微软雅黑"/>
                <a:ea typeface="微软雅黑"/>
              </a:rPr>
              <a:t>企业端复用同一框架，通过反转维度方向实现“候选人对岗位”匹配。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381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05840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微软雅黑"/>
                <a:ea typeface="微软雅黑"/>
              </a:rPr>
              <a:t>4.3 AI 能力与功能运行截图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0972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微软雅黑"/>
                <a:ea typeface="微软雅黑"/>
              </a:rPr>
              <a:t>解读 → 优化 → 助手 → 自动归档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73952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FFFFFF"/>
                </a:solidFill>
                <a:latin typeface="微软雅黑"/>
                <a:ea typeface="微软雅黑"/>
              </a:rPr>
              <a:t>智聘通 · 智能招聘平台 | 毕业设计答辩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280160"/>
            <a:ext cx="5394960" cy="182880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371600"/>
            <a:ext cx="50292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2563EB"/>
                </a:solidFill>
                <a:latin typeface="微软雅黑"/>
                <a:ea typeface="微软雅黑"/>
              </a:rPr>
              <a:t>岗位深度解读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828800"/>
            <a:ext cx="5029200" cy="11887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475569"/>
                </a:solidFill>
                <a:latin typeface="微软雅黑"/>
                <a:ea typeface="微软雅黑"/>
              </a:rPr>
              <a:t>DeepSeek 输出：核心技能 / 适配建议 / 成长路径 / 面试提示；成功即自动新建职业助手对话（user+assistant 两条消息）。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280160"/>
            <a:ext cx="5394960" cy="182880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371600"/>
            <a:ext cx="50292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微软雅黑"/>
                <a:ea typeface="微软雅黑"/>
              </a:rPr>
              <a:t>简历 AI 优化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828800"/>
            <a:ext cx="5029200" cy="11887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475569"/>
                </a:solidFill>
                <a:latin typeface="微软雅黑"/>
                <a:ea typeface="微软雅黑"/>
              </a:rPr>
              <a:t>上传解析 → 输出评分 / 总体评价 / 分维度建议；结果自动归档，可在职业助手继续追问修改。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383280"/>
            <a:ext cx="5394960" cy="182880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474720"/>
            <a:ext cx="50292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59E0B"/>
                </a:solidFill>
                <a:latin typeface="微软雅黑"/>
                <a:ea typeface="微软雅黑"/>
              </a:rPr>
              <a:t>AI 职业助手多轮对话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931920"/>
            <a:ext cx="5029200" cy="11887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475569"/>
                </a:solidFill>
                <a:latin typeface="微软雅黑"/>
                <a:ea typeface="微软雅黑"/>
              </a:rPr>
              <a:t>会话 + 消息双表结构，承载多轮上下文；自动归档的解读/优化记录可直接续聊。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3383280"/>
            <a:ext cx="5394960" cy="182880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3474720"/>
            <a:ext cx="50292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8B5CF6"/>
                </a:solidFill>
                <a:latin typeface="微软雅黑"/>
                <a:ea typeface="微软雅黑"/>
              </a:rPr>
              <a:t>认证与权限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931920"/>
            <a:ext cx="5029200" cy="11887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475569"/>
                </a:solidFill>
                <a:latin typeface="微软雅黑"/>
                <a:ea typeface="微软雅黑"/>
              </a:rPr>
              <a:t>JWT 携带角色，BCrypt 加密密码，登录失败锁定，敏感字段加密存储，三端权限隔离。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486400"/>
            <a:ext cx="1097280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B01B1B"/>
                </a:solidFill>
                <a:latin typeface="微软雅黑"/>
                <a:ea typeface="微软雅黑"/>
              </a:rPr>
              <a:t>（提示：答辩时在此页或后续插入对应页面运行截图）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194560"/>
            <a:ext cx="3291840" cy="18288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F59E0B"/>
                </a:solidFill>
                <a:latin typeface="微软雅黑"/>
                <a:ea typeface="微软雅黑"/>
              </a:rPr>
              <a:t>ANALYSIS &amp;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606040"/>
            <a:ext cx="3291840" cy="18288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F1F5F9"/>
                </a:solidFill>
                <a:latin typeface="微软雅黑"/>
                <a:ea typeface="微软雅黑"/>
              </a:rPr>
              <a:t>智聘通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297680"/>
            <a:ext cx="3291840" cy="1463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6000" b="1">
                <a:solidFill>
                  <a:srgbClr val="2E3A4C"/>
                </a:solidFill>
                <a:latin typeface="微软雅黑"/>
                <a:ea typeface="微软雅黑"/>
              </a:rPr>
              <a:t>数据分析与可视化成果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46320" y="1371600"/>
            <a:ext cx="6675120" cy="10058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E293B"/>
                </a:solidFill>
                <a:latin typeface="微软雅黑"/>
                <a:ea typeface="微软雅黑"/>
              </a:rPr>
              <a:t>多维度 ECharts 图表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0" y="2560320"/>
            <a:ext cx="6675120" cy="10058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E293B"/>
                </a:solidFill>
                <a:latin typeface="微软雅黑"/>
                <a:ea typeface="微软雅黑"/>
              </a:rPr>
              <a:t>AI 生成分析结论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3749039"/>
            <a:ext cx="6675120" cy="10058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E293B"/>
                </a:solidFill>
                <a:latin typeface="微软雅黑"/>
                <a:ea typeface="微软雅黑"/>
              </a:rPr>
              <a:t>市场趋势 Dashboard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381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05840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微软雅黑"/>
                <a:ea typeface="微软雅黑"/>
              </a:rPr>
              <a:t>5.1 市场分析 Dashboard（ECharts）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0972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微软雅黑"/>
                <a:ea typeface="微软雅黑"/>
              </a:rPr>
              <a:t>需求 · 薪资 · 学历 · 地区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73952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FFFFFF"/>
                </a:solidFill>
                <a:latin typeface="微软雅黑"/>
                <a:ea typeface="微软雅黑"/>
              </a:rPr>
              <a:t>智聘通 · 智能招聘平台 | 毕业设计答辩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234440"/>
            <a:ext cx="5394960" cy="146304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371600"/>
            <a:ext cx="484632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2563EB"/>
                </a:solidFill>
                <a:latin typeface="微软雅黑"/>
                <a:ea typeface="微软雅黑"/>
              </a:rPr>
              <a:t>岗位需求排行（柱状图）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874520"/>
            <a:ext cx="484632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475569"/>
                </a:solidFill>
                <a:latin typeface="微软雅黑"/>
                <a:ea typeface="微软雅黑"/>
              </a:rPr>
              <a:t>各类别职位数量 Top，直观反映人才需求结构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234440"/>
            <a:ext cx="5394960" cy="146304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371600"/>
            <a:ext cx="484632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2563EB"/>
                </a:solidFill>
                <a:latin typeface="微软雅黑"/>
                <a:ea typeface="微软雅黑"/>
              </a:rPr>
              <a:t>岗位平均薪资（横向条形）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1874520"/>
            <a:ext cx="484632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475569"/>
                </a:solidFill>
                <a:latin typeface="微软雅黑"/>
                <a:ea typeface="微软雅黑"/>
              </a:rPr>
              <a:t>各类别月均薪资 Top5，突出重点高薪岗位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71800"/>
            <a:ext cx="5394960" cy="146304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108960"/>
            <a:ext cx="484632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2563EB"/>
                </a:solidFill>
                <a:latin typeface="微软雅黑"/>
                <a:ea typeface="微软雅黑"/>
              </a:rPr>
              <a:t>学历对薪资影响（柱状图）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611880"/>
            <a:ext cx="484632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475569"/>
                </a:solidFill>
                <a:latin typeface="微软雅黑"/>
                <a:ea typeface="微软雅黑"/>
              </a:rPr>
              <a:t>学历→平均月薪正相关趋势（本科 16.6K / 硕士 28K）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2971800"/>
            <a:ext cx="5394960" cy="146304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3108960"/>
            <a:ext cx="484632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2563EB"/>
                </a:solidFill>
                <a:latin typeface="微软雅黑"/>
                <a:ea typeface="微软雅黑"/>
              </a:rPr>
              <a:t>学历分布（饼图）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3611880"/>
            <a:ext cx="484632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475569"/>
                </a:solidFill>
                <a:latin typeface="微软雅黑"/>
                <a:ea typeface="微软雅黑"/>
              </a:rPr>
              <a:t>各学历段岗位占比，刻画用人门槛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709160"/>
            <a:ext cx="5394960" cy="146304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4846320"/>
            <a:ext cx="484632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2563EB"/>
                </a:solidFill>
                <a:latin typeface="微软雅黑"/>
                <a:ea typeface="微软雅黑"/>
              </a:rPr>
              <a:t>地区平均薪资排行（柱状图）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5349240"/>
            <a:ext cx="484632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475569"/>
                </a:solidFill>
                <a:latin typeface="微软雅黑"/>
                <a:ea typeface="微软雅黑"/>
              </a:rPr>
              <a:t>城市→月均薪资，识别高薪城市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72200" y="4709160"/>
            <a:ext cx="5394960" cy="146304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4846320"/>
            <a:ext cx="484632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2563EB"/>
                </a:solidFill>
                <a:latin typeface="微软雅黑"/>
                <a:ea typeface="微软雅黑"/>
              </a:rPr>
              <a:t>AI 分析结论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5349240"/>
            <a:ext cx="484632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475569"/>
                </a:solidFill>
                <a:latin typeface="微软雅黑"/>
                <a:ea typeface="微软雅黑"/>
              </a:rPr>
              <a:t>DeepSeek 对以上聚合生成自然语言洞察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381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05840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微软雅黑"/>
                <a:ea typeface="微软雅黑"/>
              </a:rPr>
              <a:t>5.2 分析结论与示例数据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0972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微软雅黑"/>
                <a:ea typeface="微软雅黑"/>
              </a:rPr>
              <a:t>数据背后的洞察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73952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FFFFFF"/>
                </a:solidFill>
                <a:latin typeface="微软雅黑"/>
                <a:ea typeface="微软雅黑"/>
              </a:rPr>
              <a:t>智聘通 · 智能招聘平台 | 毕业设计答辩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34440"/>
            <a:ext cx="109728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2563EB"/>
                </a:solidFill>
                <a:latin typeface="微软雅黑"/>
                <a:ea typeface="微软雅黑"/>
              </a:rPr>
              <a:t>AI 分析结论示例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783080"/>
            <a:ext cx="1060704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475569"/>
                </a:solidFill>
                <a:latin typeface="微软雅黑"/>
                <a:ea typeface="微软雅黑"/>
              </a:rPr>
              <a:t>• 薪资与学历整体呈正相关：高中 9.5K → 大专 13.7K → 本科 16.6K → 硕士 28.0K，学历仍是薪酬重要分水岭；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350008"/>
            <a:ext cx="1060704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475569"/>
                </a:solidFill>
                <a:latin typeface="微软雅黑"/>
                <a:ea typeface="微软雅黑"/>
              </a:rPr>
              <a:t>• 高薪岗位相对集中：产品 / Python / 人工智能等类别平均月薪领先，技术岗位具备薪资优势；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916936"/>
            <a:ext cx="1060704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475569"/>
                </a:solidFill>
                <a:latin typeface="微软雅黑"/>
                <a:ea typeface="微软雅黑"/>
              </a:rPr>
              <a:t>• 地区差异显著：杭州 / 长沙 / 苏州 / 深圳等城市平均月薪居前列，就业决策需结合城市因素；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483863"/>
            <a:ext cx="1060704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475569"/>
                </a:solidFill>
                <a:latin typeface="微软雅黑"/>
                <a:ea typeface="微软雅黑"/>
              </a:rPr>
              <a:t>• 岗位需求结构反映市场上开发、运营、销售等类别需求体量差异。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206240"/>
            <a:ext cx="109728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微软雅黑"/>
                <a:ea typeface="微软雅黑"/>
              </a:rPr>
              <a:t>薪资归一化口径（统一 K/月）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709160"/>
            <a:ext cx="10607040" cy="1463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E293B"/>
                </a:solidFill>
                <a:latin typeface="微软雅黑"/>
                <a:ea typeface="微软雅黑"/>
              </a:rPr>
              <a:t>万/月 ×10 ｜ 千/月 原值 ｜ 万/年 ÷12 ｜ 元/天 ×22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475569"/>
                </a:solidFill>
                <a:latin typeface="微软雅黑"/>
                <a:ea typeface="微软雅黑"/>
              </a:rPr>
              <a:t>（例：30-50万/年 → 25.0-41.7K；300-500元/天 → 5.5-9.2K）——保证跨岗位/城市/学历公平比较。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194560"/>
            <a:ext cx="3291840" cy="18288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F59E0B"/>
                </a:solidFill>
                <a:latin typeface="微软雅黑"/>
                <a:ea typeface="微软雅黑"/>
              </a:rPr>
              <a:t>CHALLENGES &amp; SOLUTIONS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606040"/>
            <a:ext cx="3291840" cy="18288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F1F5F9"/>
                </a:solidFill>
                <a:latin typeface="微软雅黑"/>
                <a:ea typeface="微软雅黑"/>
              </a:rPr>
              <a:t>智聘通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297680"/>
            <a:ext cx="3291840" cy="1463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6000" b="1">
                <a:solidFill>
                  <a:srgbClr val="2E3A4C"/>
                </a:solidFill>
                <a:latin typeface="微软雅黑"/>
                <a:ea typeface="微软雅黑"/>
              </a:rPr>
              <a:t>项目难点与解决方案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46320" y="1371600"/>
            <a:ext cx="6675120" cy="10058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E293B"/>
                </a:solidFill>
                <a:latin typeface="微软雅黑"/>
                <a:ea typeface="微软雅黑"/>
              </a:rPr>
              <a:t>开发过程中遇到的问题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0" y="2560320"/>
            <a:ext cx="6675120" cy="10058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E293B"/>
                </a:solidFill>
                <a:latin typeface="微软雅黑"/>
                <a:ea typeface="微软雅黑"/>
              </a:rPr>
              <a:t>针对性解决与优化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3749039"/>
            <a:ext cx="6675120" cy="10058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E293B"/>
                </a:solidFill>
                <a:latin typeface="微软雅黑"/>
                <a:ea typeface="微软雅黑"/>
              </a:rPr>
              <a:t>量化前后对比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381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05840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微软雅黑"/>
                <a:ea typeface="微软雅黑"/>
              </a:rPr>
              <a:t>6.1 难点与解决方案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0972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微软雅黑"/>
                <a:ea typeface="微软雅黑"/>
              </a:rPr>
              <a:t>问题 → 方案 → 结果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73952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FFFFFF"/>
                </a:solidFill>
                <a:latin typeface="微软雅黑"/>
                <a:ea typeface="微软雅黑"/>
              </a:rPr>
              <a:t>智聘通 · 智能招聘平台 | 毕业设计答辩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234440"/>
            <a:ext cx="11247120" cy="4572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298448"/>
            <a:ext cx="42062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遇到问题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1298448"/>
            <a:ext cx="393192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解决方案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59" y="1298448"/>
            <a:ext cx="292608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优化结果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737360"/>
            <a:ext cx="1124712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1755648"/>
            <a:ext cx="4023359" cy="53035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E293B"/>
                </a:solidFill>
                <a:latin typeface="微软雅黑"/>
                <a:ea typeface="微软雅黑"/>
              </a:rPr>
              <a:t>网站结构变化导致解析失败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79" y="1755648"/>
            <a:ext cx="3749039" cy="53035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E293B"/>
                </a:solidFill>
                <a:latin typeface="微软雅黑"/>
                <a:ea typeface="微软雅黑"/>
              </a:rPr>
              <a:t>结构变更监测 + 多选择器兜底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799" y="1755648"/>
            <a:ext cx="2743200" cy="53035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E293B"/>
                </a:solidFill>
                <a:latin typeface="微软雅黑"/>
                <a:ea typeface="微软雅黑"/>
              </a:rPr>
              <a:t>采集成功率稳定，快速感知异常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304288"/>
            <a:ext cx="11247120" cy="56692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2322576"/>
            <a:ext cx="4023359" cy="53035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E293B"/>
                </a:solidFill>
                <a:latin typeface="微软雅黑"/>
                <a:ea typeface="微软雅黑"/>
              </a:rPr>
              <a:t>真实模式无产出/被验证码拦截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79" y="2322576"/>
            <a:ext cx="3749039" cy="53035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E293B"/>
                </a:solidFill>
                <a:latin typeface="微软雅黑"/>
                <a:ea typeface="微软雅黑"/>
              </a:rPr>
              <a:t>SPA+手机版双源、验证码人工处理、auto 自动降级模拟数据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799" y="2322576"/>
            <a:ext cx="2743200" cy="53035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E293B"/>
                </a:solidFill>
                <a:latin typeface="微软雅黑"/>
                <a:ea typeface="微软雅黑"/>
              </a:rPr>
              <a:t>演示流程不中断，兼顾真实与稳定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2871216"/>
            <a:ext cx="1124712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2889504"/>
            <a:ext cx="4023359" cy="53035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E293B"/>
                </a:solidFill>
                <a:latin typeface="微软雅黑"/>
                <a:ea typeface="微软雅黑"/>
              </a:rPr>
              <a:t>企业端与求职端匹配逻辑重复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79" y="2889504"/>
            <a:ext cx="3749039" cy="53035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E293B"/>
                </a:solidFill>
                <a:latin typeface="微软雅黑"/>
                <a:ea typeface="微软雅黑"/>
              </a:rPr>
              <a:t>统一五维评分框架，反转维度复用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799" y="2889504"/>
            <a:ext cx="2743200" cy="53035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E293B"/>
                </a:solidFill>
                <a:latin typeface="微软雅黑"/>
                <a:ea typeface="微软雅黑"/>
              </a:rPr>
              <a:t>代码复用、单一逻辑、易扩展新维度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438144"/>
            <a:ext cx="11247120" cy="56692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3456432"/>
            <a:ext cx="4023359" cy="53035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E293B"/>
                </a:solidFill>
                <a:latin typeface="微软雅黑"/>
                <a:ea typeface="微软雅黑"/>
              </a:rPr>
              <a:t>薪资口径不统一难统计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54879" y="3456432"/>
            <a:ext cx="3749039" cy="53035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E293B"/>
                </a:solidFill>
                <a:latin typeface="微软雅黑"/>
                <a:ea typeface="微软雅黑"/>
              </a:rPr>
              <a:t>统一归一化为 K/月（万/年÷12、元/天×22）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799" y="3456432"/>
            <a:ext cx="2743200" cy="53035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E293B"/>
                </a:solidFill>
                <a:latin typeface="微软雅黑"/>
                <a:ea typeface="微软雅黑"/>
              </a:rPr>
              <a:t>可实现跨维度公平比较与统计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4005072"/>
            <a:ext cx="1124712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4023359"/>
            <a:ext cx="4023359" cy="53035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E293B"/>
                </a:solidFill>
                <a:latin typeface="微软雅黑"/>
                <a:ea typeface="微软雅黑"/>
              </a:rPr>
              <a:t>登录态复用困难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54879" y="4023359"/>
            <a:ext cx="3749039" cy="53035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E293B"/>
                </a:solidFill>
                <a:latin typeface="微软雅黑"/>
                <a:ea typeface="微软雅黑"/>
              </a:rPr>
              <a:t>CDP 附加模式（--remote-debugging-port=9222）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799" y="4023359"/>
            <a:ext cx="2743200" cy="53035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E293B"/>
                </a:solidFill>
                <a:latin typeface="微软雅黑"/>
                <a:ea typeface="微软雅黑"/>
              </a:rPr>
              <a:t>复用本地浏览器登录态，不重复开窗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4572000"/>
            <a:ext cx="11247120" cy="56692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4590288"/>
            <a:ext cx="4023359" cy="53035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E293B"/>
                </a:solidFill>
                <a:latin typeface="微软雅黑"/>
                <a:ea typeface="微软雅黑"/>
              </a:rPr>
              <a:t>数据量大、聚合慢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54879" y="4590288"/>
            <a:ext cx="3749039" cy="53035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E293B"/>
                </a:solidFill>
                <a:latin typeface="微软雅黑"/>
                <a:ea typeface="微软雅黑"/>
              </a:rPr>
              <a:t>索引/精确查询 + 后端聚合 + 前端图表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799" y="4590288"/>
            <a:ext cx="2743200" cy="53035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E293B"/>
                </a:solidFill>
                <a:latin typeface="微软雅黑"/>
                <a:ea typeface="微软雅黑"/>
              </a:rPr>
              <a:t>分析页响应快、可视化流畅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5138928"/>
            <a:ext cx="1124712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5157216"/>
            <a:ext cx="4023359" cy="53035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E293B"/>
                </a:solidFill>
                <a:latin typeface="微软雅黑"/>
                <a:ea typeface="微软雅黑"/>
              </a:rPr>
              <a:t>页面展示不足、交互弱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54879" y="5157216"/>
            <a:ext cx="3749039" cy="53035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E293B"/>
                </a:solidFill>
                <a:latin typeface="微软雅黑"/>
                <a:ea typeface="微软雅黑"/>
              </a:rPr>
              <a:t>ECharts 多图表 + Element Plus 组件 + AI 结论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86799" y="5157216"/>
            <a:ext cx="2743200" cy="53035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E293B"/>
                </a:solidFill>
                <a:latin typeface="微软雅黑"/>
                <a:ea typeface="微软雅黑"/>
              </a:rPr>
              <a:t>Dashboard 直观、图文并茂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" y="5705856"/>
            <a:ext cx="11247120" cy="56692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48640" y="5724144"/>
            <a:ext cx="4023359" cy="53035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E293B"/>
                </a:solidFill>
                <a:latin typeface="微软雅黑"/>
                <a:ea typeface="微软雅黑"/>
              </a:rPr>
              <a:t>DeepSeek 输出不稳定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754879" y="5724144"/>
            <a:ext cx="3749039" cy="53035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E293B"/>
                </a:solidFill>
                <a:latin typeface="微软雅黑"/>
                <a:ea typeface="微软雅黑"/>
              </a:rPr>
              <a:t>统一封装：系统提示注入 + 重试 + JSON 解析 + 模板兜底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86799" y="5724144"/>
            <a:ext cx="2743200" cy="53035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E293B"/>
                </a:solidFill>
                <a:latin typeface="微软雅黑"/>
                <a:ea typeface="微软雅黑"/>
              </a:rPr>
              <a:t>AI 返回稳定，符合业务结构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194560"/>
            <a:ext cx="3291840" cy="18288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F59E0B"/>
                </a:solidFill>
                <a:latin typeface="微软雅黑"/>
                <a:ea typeface="微软雅黑"/>
              </a:rPr>
              <a:t>SUMMARY &amp; OUTLOOK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606040"/>
            <a:ext cx="3291840" cy="18288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F1F5F9"/>
                </a:solidFill>
                <a:latin typeface="微软雅黑"/>
                <a:ea typeface="微软雅黑"/>
              </a:rPr>
              <a:t>智聘通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297680"/>
            <a:ext cx="3291840" cy="1463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6000" b="1">
                <a:solidFill>
                  <a:srgbClr val="2E3A4C"/>
                </a:solidFill>
                <a:latin typeface="微软雅黑"/>
                <a:ea typeface="微软雅黑"/>
              </a:rPr>
              <a:t>项目总结与展望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46320" y="1371600"/>
            <a:ext cx="6675120" cy="10058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E293B"/>
                </a:solidFill>
                <a:latin typeface="微软雅黑"/>
                <a:ea typeface="微软雅黑"/>
              </a:rPr>
              <a:t>完成情况与个人收获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0" y="2560320"/>
            <a:ext cx="6675120" cy="10058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E293B"/>
                </a:solidFill>
                <a:latin typeface="微软雅黑"/>
                <a:ea typeface="微软雅黑"/>
              </a:rPr>
              <a:t>当前不足与思考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3749039"/>
            <a:ext cx="6675120" cy="10058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E293B"/>
                </a:solidFill>
                <a:latin typeface="微软雅黑"/>
                <a:ea typeface="微软雅黑"/>
              </a:rPr>
              <a:t>后续优化方向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381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05840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微软雅黑"/>
                <a:ea typeface="微软雅黑"/>
              </a:rPr>
              <a:t>7.1 完成情况与个人收获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0972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微软雅黑"/>
                <a:ea typeface="微软雅黑"/>
              </a:rPr>
              <a:t>SUMMARY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73952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FFFFFF"/>
                </a:solidFill>
                <a:latin typeface="微软雅黑"/>
                <a:ea typeface="微软雅黑"/>
              </a:rPr>
              <a:t>智聘通 · 智能招聘平台 | 毕业设计答辩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2563EB"/>
                </a:solidFill>
                <a:latin typeface="微软雅黑"/>
                <a:ea typeface="微软雅黑"/>
              </a:rPr>
              <a:t>完成情况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645920"/>
            <a:ext cx="1078992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>
                <a:solidFill>
                  <a:srgbClr val="475569"/>
                </a:solidFill>
                <a:latin typeface="微软雅黑"/>
                <a:ea typeface="微软雅黑"/>
              </a:rPr>
              <a:t>• 数据采集：多线程爬虫 + 定时任务 + 三种采集模式 + 抗反爬与自动降级，构建可用职位数据库；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148840"/>
            <a:ext cx="1078992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>
                <a:solidFill>
                  <a:srgbClr val="475569"/>
                </a:solidFill>
                <a:latin typeface="微软雅黑"/>
                <a:ea typeface="微软雅黑"/>
              </a:rPr>
              <a:t>• 智能匹配：五维加权推荐 + 企业端候选人匹配；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651760"/>
            <a:ext cx="1078992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>
                <a:solidFill>
                  <a:srgbClr val="475569"/>
                </a:solidFill>
                <a:latin typeface="微软雅黑"/>
                <a:ea typeface="微软雅黑"/>
              </a:rPr>
              <a:t>• AI 能力：岗位解读、简历优化、职业助手多轮对话，自动归档形成闭环；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54680"/>
            <a:ext cx="1078992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>
                <a:solidFill>
                  <a:srgbClr val="475569"/>
                </a:solidFill>
                <a:latin typeface="微软雅黑"/>
                <a:ea typeface="微软雅黑"/>
              </a:rPr>
              <a:t>• 数据可视化：市场分析 Dashboard + AI 结论；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657600"/>
            <a:ext cx="1078992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>
                <a:solidFill>
                  <a:srgbClr val="475569"/>
                </a:solidFill>
                <a:latin typeface="微软雅黑"/>
                <a:ea typeface="微软雅黑"/>
              </a:rPr>
              <a:t>• 测试验证：pytest 28 例 + 前端构建通过，完成端到端联调。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023360"/>
            <a:ext cx="109728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0B981"/>
                </a:solidFill>
                <a:latin typeface="微软雅黑"/>
                <a:ea typeface="微软雅黑"/>
              </a:rPr>
              <a:t>个人收获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480560"/>
            <a:ext cx="1078992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>
                <a:solidFill>
                  <a:srgbClr val="475569"/>
                </a:solidFill>
                <a:latin typeface="微软雅黑"/>
                <a:ea typeface="微软雅黑"/>
              </a:rPr>
              <a:t>• 工程能力：前后端分离、REST API、数据库建模、并发爬虫与反爬；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937760"/>
            <a:ext cx="1078992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>
                <a:solidFill>
                  <a:srgbClr val="475569"/>
                </a:solidFill>
                <a:latin typeface="微软雅黑"/>
                <a:ea typeface="微软雅黑"/>
              </a:rPr>
              <a:t>• AI 集成：大模型 API 封装、结构化输出解析与容错；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394960"/>
            <a:ext cx="1078992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>
                <a:solidFill>
                  <a:srgbClr val="475569"/>
                </a:solidFill>
                <a:latin typeface="微软雅黑"/>
                <a:ea typeface="微软雅黑"/>
              </a:rPr>
              <a:t>• 算法思维：将业务抽象为多维加权模型并做双端复用；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852160"/>
            <a:ext cx="1078992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>
                <a:solidFill>
                  <a:srgbClr val="475569"/>
                </a:solidFill>
                <a:latin typeface="微软雅黑"/>
                <a:ea typeface="微软雅黑"/>
              </a:rPr>
              <a:t>• 分析意识：用数据归一化与图表量化招聘市场规律。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381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05840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微软雅黑"/>
                <a:ea typeface="微软雅黑"/>
              </a:rPr>
              <a:t>7.2 当前不足与后续优化方向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0972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微软雅黑"/>
                <a:ea typeface="微软雅黑"/>
              </a:rPr>
              <a:t>OUTLOOK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73952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FFFFFF"/>
                </a:solidFill>
                <a:latin typeface="微软雅黑"/>
                <a:ea typeface="微软雅黑"/>
              </a:rPr>
              <a:t>智聘通 · 智能招聘平台 | 毕业设计答辩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34440"/>
            <a:ext cx="109728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F59E0B"/>
                </a:solidFill>
                <a:latin typeface="微软雅黑"/>
                <a:ea typeface="微软雅黑"/>
              </a:rPr>
              <a:t>当前不足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691640"/>
            <a:ext cx="1078992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>
                <a:solidFill>
                  <a:srgbClr val="475569"/>
                </a:solidFill>
                <a:latin typeface="微软雅黑"/>
                <a:ea typeface="微软雅黑"/>
              </a:rPr>
              <a:t>• 数据源单一（仅 51job），样本规模有限；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148840"/>
            <a:ext cx="1078992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>
                <a:solidFill>
                  <a:srgbClr val="475569"/>
                </a:solidFill>
                <a:latin typeface="微软雅黑"/>
                <a:ea typeface="微软雅黑"/>
              </a:rPr>
              <a:t>• SQLite 单机部署，未支撑多源高并发；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606040"/>
            <a:ext cx="1078992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>
                <a:solidFill>
                  <a:srgbClr val="475569"/>
                </a:solidFill>
                <a:latin typeface="微软雅黑"/>
                <a:ea typeface="微软雅黑"/>
              </a:rPr>
              <a:t>• 推荐以规则加权为主，未引入语义/协同召回；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063240"/>
            <a:ext cx="1078992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>
                <a:solidFill>
                  <a:srgbClr val="475569"/>
                </a:solidFill>
                <a:latin typeface="微软雅黑"/>
                <a:ea typeface="微软雅黑"/>
              </a:rPr>
              <a:t>• 爬虫依赖本地浏览器，规模化受限。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566160"/>
            <a:ext cx="109728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8B5CF6"/>
                </a:solidFill>
                <a:latin typeface="微软雅黑"/>
                <a:ea typeface="微软雅黑"/>
              </a:rPr>
              <a:t>后续优化方向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023360"/>
            <a:ext cx="1078992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>
                <a:solidFill>
                  <a:srgbClr val="475569"/>
                </a:solidFill>
                <a:latin typeface="微软雅黑"/>
                <a:ea typeface="微软雅黑"/>
              </a:rPr>
              <a:t>• 多平台聚合 + 定时增量入库，扩大数据规模；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480560"/>
            <a:ext cx="1078992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>
                <a:solidFill>
                  <a:srgbClr val="475569"/>
                </a:solidFill>
                <a:latin typeface="微软雅黑"/>
                <a:ea typeface="微软雅黑"/>
              </a:rPr>
              <a:t>• PostgreSQL + Gunicorn/Nginx 生产化部署；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937760"/>
            <a:ext cx="1078992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>
                <a:solidFill>
                  <a:srgbClr val="475569"/>
                </a:solidFill>
                <a:latin typeface="微软雅黑"/>
                <a:ea typeface="微软雅黑"/>
              </a:rPr>
              <a:t>• 引入 Embedding 语义召回 + 协同过滤，提升推荐质量；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394960"/>
            <a:ext cx="1078992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>
                <a:solidFill>
                  <a:srgbClr val="475569"/>
                </a:solidFill>
                <a:latin typeface="微软雅黑"/>
                <a:ea typeface="微软雅黑"/>
              </a:rPr>
              <a:t>• 简历自动投递、薪资预测、更细粒度趋势模型。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377440"/>
            <a:ext cx="1005840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微软雅黑"/>
                <a:ea typeface="微软雅黑"/>
              </a:rPr>
              <a:t>感谢聆听 · 恳请指正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05840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0">
                <a:solidFill>
                  <a:srgbClr val="475569"/>
                </a:solidFill>
                <a:latin typeface="微软雅黑"/>
                <a:ea typeface="微软雅黑"/>
              </a:rPr>
              <a:t>智聘通 智能招聘平台 | 毕业设计答辩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