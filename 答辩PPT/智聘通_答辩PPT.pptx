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9" r:id="rId9"/>
    <p:sldId id="263" r:id="rId10"/>
    <p:sldId id="264" r:id="rId11"/>
    <p:sldId id="265" r:id="rId12"/>
    <p:sldId id="266" r:id="rId13"/>
    <p:sldId id="267" r:id="rId14"/>
    <p:sldId id="268" r:id="rId1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9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128016" cy="128016"/>
          </a:xfrm>
          <a:prstGeom prst="rect">
            <a:avLst/>
          </a:prstGeom>
          <a:solidFill>
            <a:srgbClr val="425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6112" y="594360"/>
            <a:ext cx="128016" cy="128016"/>
          </a:xfrm>
          <a:prstGeom prst="rect">
            <a:avLst/>
          </a:prstGeom>
          <a:solidFill>
            <a:srgbClr val="704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33856" y="621792"/>
            <a:ext cx="128016" cy="128016"/>
          </a:xfrm>
          <a:prstGeom prst="rect">
            <a:avLst/>
          </a:prstGeom>
          <a:solidFill>
            <a:srgbClr val="2FA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649224"/>
            <a:ext cx="128016" cy="128016"/>
          </a:xfrm>
          <a:prstGeom prst="rect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41732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微软雅黑" panose="020B0503020204020204" charset="-122"/>
              </a:rPr>
              <a:t>智聘通</a:t>
            </a:r>
            <a:endParaRPr sz="4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智能招聘平台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49808" y="2788920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CD8ED"/>
                </a:solidFill>
                <a:latin typeface="微软雅黑" panose="020B0503020204020204" charset="-122"/>
              </a:rPr>
              <a:t>基于数据爬取 + DeepSeek 大模型的一站式求职招聘平台</a:t>
            </a:r>
            <a:endParaRPr sz="1600" b="0">
              <a:solidFill>
                <a:srgbClr val="CCD8ED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6423" y="3801110"/>
            <a:ext cx="1024128" cy="384048"/>
          </a:xfrm>
          <a:prstGeom prst="roundRect">
            <a:avLst/>
          </a:prstGeom>
          <a:solidFill>
            <a:srgbClr val="192744"/>
          </a:solidFill>
          <a:ln w="12700">
            <a:solidFill>
              <a:srgbClr val="3F5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423" y="3855974"/>
            <a:ext cx="10241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1">
                <a:solidFill>
                  <a:srgbClr val="D5DFF1"/>
                </a:solidFill>
                <a:latin typeface="微软雅黑" panose="020B0503020204020204" charset="-122"/>
              </a:rPr>
              <a:t>Python</a:t>
            </a:r>
            <a:endParaRPr sz="950" b="1">
              <a:solidFill>
                <a:srgbClr val="D5DFF1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506855" y="3801110"/>
            <a:ext cx="1024128" cy="384048"/>
          </a:xfrm>
          <a:prstGeom prst="roundRect">
            <a:avLst/>
          </a:prstGeom>
          <a:solidFill>
            <a:srgbClr val="192744"/>
          </a:solidFill>
          <a:ln w="12700">
            <a:solidFill>
              <a:srgbClr val="3F5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6855" y="3855974"/>
            <a:ext cx="10241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1">
                <a:solidFill>
                  <a:srgbClr val="D5DFF1"/>
                </a:solidFill>
                <a:latin typeface="微软雅黑" panose="020B0503020204020204" charset="-122"/>
              </a:rPr>
              <a:t>Flask</a:t>
            </a:r>
            <a:endParaRPr sz="950" b="1">
              <a:solidFill>
                <a:srgbClr val="D5DFF1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677287" y="3801110"/>
            <a:ext cx="1024128" cy="384048"/>
          </a:xfrm>
          <a:prstGeom prst="roundRect">
            <a:avLst/>
          </a:prstGeom>
          <a:solidFill>
            <a:srgbClr val="192744"/>
          </a:solidFill>
          <a:ln w="12700">
            <a:solidFill>
              <a:srgbClr val="3F5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7287" y="3855974"/>
            <a:ext cx="10241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1">
                <a:solidFill>
                  <a:srgbClr val="D5DFF1"/>
                </a:solidFill>
                <a:latin typeface="微软雅黑" panose="020B0503020204020204" charset="-122"/>
              </a:rPr>
              <a:t>Vue3</a:t>
            </a:r>
            <a:endParaRPr sz="950" b="1">
              <a:solidFill>
                <a:srgbClr val="D5DFF1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847719" y="3801110"/>
            <a:ext cx="1024128" cy="384048"/>
          </a:xfrm>
          <a:prstGeom prst="roundRect">
            <a:avLst/>
          </a:prstGeom>
          <a:solidFill>
            <a:srgbClr val="192744"/>
          </a:solidFill>
          <a:ln w="12700">
            <a:solidFill>
              <a:srgbClr val="3F5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7719" y="3855974"/>
            <a:ext cx="10241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1">
                <a:solidFill>
                  <a:srgbClr val="D5DFF1"/>
                </a:solidFill>
                <a:latin typeface="微软雅黑" panose="020B0503020204020204" charset="-122"/>
              </a:rPr>
              <a:t>ECharts</a:t>
            </a:r>
            <a:endParaRPr sz="950" b="1">
              <a:solidFill>
                <a:srgbClr val="D5DFF1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018151" y="3801110"/>
            <a:ext cx="1024128" cy="384048"/>
          </a:xfrm>
          <a:prstGeom prst="roundRect">
            <a:avLst/>
          </a:prstGeom>
          <a:solidFill>
            <a:srgbClr val="192744"/>
          </a:solidFill>
          <a:ln w="12700">
            <a:solidFill>
              <a:srgbClr val="3F5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18151" y="3855974"/>
            <a:ext cx="10241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1">
                <a:solidFill>
                  <a:srgbClr val="D5DFF1"/>
                </a:solidFill>
                <a:latin typeface="微软雅黑" panose="020B0503020204020204" charset="-122"/>
              </a:rPr>
              <a:t>Selenium</a:t>
            </a:r>
            <a:endParaRPr sz="950" b="1">
              <a:solidFill>
                <a:srgbClr val="D5DFF1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188583" y="3801110"/>
            <a:ext cx="1024128" cy="384048"/>
          </a:xfrm>
          <a:prstGeom prst="roundRect">
            <a:avLst/>
          </a:prstGeom>
          <a:solidFill>
            <a:srgbClr val="192744"/>
          </a:solidFill>
          <a:ln w="12700">
            <a:solidFill>
              <a:srgbClr val="3F5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8583" y="3855974"/>
            <a:ext cx="10241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1">
                <a:solidFill>
                  <a:srgbClr val="D5DFF1"/>
                </a:solidFill>
                <a:latin typeface="微软雅黑" panose="020B0503020204020204" charset="-122"/>
              </a:rPr>
              <a:t>DeepSeek</a:t>
            </a:r>
            <a:endParaRPr sz="950" b="1">
              <a:solidFill>
                <a:srgbClr val="D5DFF1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268845" y="567055"/>
            <a:ext cx="4572000" cy="5837555"/>
          </a:xfrm>
          <a:prstGeom prst="roundRect">
            <a:avLst>
              <a:gd name="adj" fmla="val 6055"/>
            </a:avLst>
          </a:prstGeom>
          <a:solidFill>
            <a:srgbClr val="16223D"/>
          </a:solidFill>
          <a:ln w="12700">
            <a:solidFill>
              <a:srgbClr val="425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227c4a9b-cb3f-4a90-b490-c34b67c536d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3145" y="841375"/>
            <a:ext cx="4344670" cy="2820670"/>
          </a:xfrm>
          <a:prstGeom prst="rect">
            <a:avLst/>
          </a:prstGeom>
        </p:spPr>
      </p:pic>
      <p:pic>
        <p:nvPicPr>
          <p:cNvPr id="24" name="Picture 23" descr="0ad64238-f469-46f1-b602-0891dc8528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055" y="3761740"/>
            <a:ext cx="4283710" cy="230060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9808" y="5989320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59A23"/>
                </a:solidFill>
                <a:latin typeface="微软雅黑" panose="020B0503020204020204" charset="-122"/>
              </a:rPr>
              <a:t>毕业设计答辩</a:t>
            </a:r>
            <a:endParaRPr sz="11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743200" y="5989320"/>
            <a:ext cx="4114800" cy="414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ClrTx/>
              <a:buSzTx/>
              <a:buFontTx/>
            </a:pPr>
            <a:r>
              <a:rPr sz="1050" b="0">
                <a:solidFill>
                  <a:srgbClr val="9EAEC9"/>
                </a:solidFill>
                <a:latin typeface="微软雅黑" panose="020B0503020204020204" charset="-122"/>
              </a:rPr>
              <a:t>汇报人：</a:t>
            </a:r>
            <a:r>
              <a:rPr lang="zh-CN" sz="1050" b="0">
                <a:solidFill>
                  <a:srgbClr val="9EAEC9"/>
                </a:solidFill>
                <a:latin typeface="微软雅黑" panose="020B0503020204020204" charset="-122"/>
              </a:rPr>
              <a:t>黄鸿乐</a:t>
            </a:r>
            <a:r>
              <a:rPr sz="1050" b="0">
                <a:solidFill>
                  <a:srgbClr val="9EAEC9"/>
                </a:solidFill>
                <a:latin typeface="微软雅黑" panose="020B0503020204020204" charset="-122"/>
              </a:rPr>
              <a:t>    指导教师：</a:t>
            </a:r>
            <a:r>
              <a:rPr sz="1050">
                <a:solidFill>
                  <a:srgbClr val="9EAEC9"/>
                </a:solidFill>
                <a:latin typeface="微软雅黑" panose="020B0503020204020204" charset="-122"/>
                <a:sym typeface="+mn-ea"/>
              </a:rPr>
              <a:t>唐晨钧</a:t>
            </a:r>
            <a:endParaRPr sz="1050">
              <a:solidFill>
                <a:srgbClr val="9EAEC9"/>
              </a:solidFill>
              <a:latin typeface="微软雅黑" panose="020B0503020204020204" charset="-122"/>
            </a:endParaRPr>
          </a:p>
          <a:p>
            <a:pPr algn="l"/>
            <a:endParaRPr lang="zh-CN" sz="1050" b="0">
              <a:solidFill>
                <a:srgbClr val="9EAEC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13232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微软雅黑" panose="020B0503020204020204" charset="-122"/>
              </a:rPr>
              <a:t>项目背景与核心价值</a:t>
            </a:r>
            <a:endParaRPr sz="2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515600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从“找岗位”到“做决策”的智能升级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18520" y="393192"/>
            <a:ext cx="6400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2563EB"/>
                </a:solidFill>
                <a:latin typeface="微软雅黑" panose="020B0503020204020204" charset="-122"/>
              </a:rPr>
              <a:t>02</a:t>
            </a:r>
            <a:endParaRPr sz="1100" b="1">
              <a:solidFill>
                <a:srgbClr val="2563EB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109728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41148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E293B"/>
                </a:solidFill>
                <a:latin typeface="微软雅黑" panose="020B0503020204020204" charset="-122"/>
              </a:rPr>
              <a:t>数据洪流下，求职真正缺的不是岗位，而是“决策能力”</a:t>
            </a:r>
            <a:endParaRPr sz="14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94360" y="1764792"/>
            <a:ext cx="257860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0664" y="1929384"/>
            <a:ext cx="73152" cy="108813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20240"/>
            <a:ext cx="411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 panose="020B0503020204020204" charset="-122"/>
              </a:rPr>
              <a:t>01</a:t>
            </a:r>
            <a:endParaRPr sz="1100" b="1">
              <a:solidFill>
                <a:srgbClr val="2563EB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41832" y="2203704"/>
            <a:ext cx="2048255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信息分散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41832" y="2606040"/>
            <a:ext cx="2048255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微软雅黑" panose="020B0503020204020204" charset="-122"/>
              </a:rPr>
              <a:t>招聘信息散、找起来慢</a:t>
            </a:r>
            <a:endParaRPr sz="11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346704" y="1764792"/>
            <a:ext cx="257860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93008" y="1929384"/>
            <a:ext cx="73152" cy="108813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1920240"/>
            <a:ext cx="411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微软雅黑" panose="020B0503020204020204" charset="-122"/>
              </a:rPr>
              <a:t>02</a:t>
            </a:r>
            <a:endParaRPr sz="1100" b="1">
              <a:solidFill>
                <a:srgbClr val="0E7490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694176" y="2203704"/>
            <a:ext cx="2048255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数据失真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4176" y="2606040"/>
            <a:ext cx="2048255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微软雅黑" panose="020B0503020204020204" charset="-122"/>
              </a:rPr>
              <a:t>字段口径不同、难以比较</a:t>
            </a:r>
            <a:endParaRPr sz="11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099048" y="1764792"/>
            <a:ext cx="257860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5352" y="1929384"/>
            <a:ext cx="73152" cy="108813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920240"/>
            <a:ext cx="411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微软雅黑" panose="020B0503020204020204" charset="-122"/>
              </a:rPr>
              <a:t>03</a:t>
            </a:r>
            <a:endParaRPr sz="1100" b="1">
              <a:solidFill>
                <a:srgbClr val="7C3AED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46520" y="2203704"/>
            <a:ext cx="2048255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信息过载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46520" y="2606040"/>
            <a:ext cx="2048255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微软雅黑" panose="020B0503020204020204" charset="-122"/>
              </a:rPr>
              <a:t>岗位太多，却不知道哪个适合</a:t>
            </a:r>
            <a:endParaRPr sz="11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851392" y="1764792"/>
            <a:ext cx="271576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1929384"/>
            <a:ext cx="73152" cy="1088136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8864" y="1920240"/>
            <a:ext cx="411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微软雅黑" panose="020B0503020204020204" charset="-122"/>
              </a:rPr>
              <a:t>04</a:t>
            </a:r>
            <a:endParaRPr sz="1100" b="1">
              <a:solidFill>
                <a:srgbClr val="EA580C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198864" y="2203704"/>
            <a:ext cx="218541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决策缺少辅助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198864" y="2606040"/>
            <a:ext cx="2185416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微软雅黑" panose="020B0503020204020204" charset="-122"/>
              </a:rPr>
              <a:t>找到岗位 ≠ 做出选择</a:t>
            </a:r>
            <a:endParaRPr sz="11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7" name="Down Arrow 26"/>
          <p:cNvSpPr/>
          <p:nvPr/>
        </p:nvSpPr>
        <p:spPr>
          <a:xfrm>
            <a:off x="5586857" y="3653790"/>
            <a:ext cx="658368" cy="45720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71289" y="3333877"/>
            <a:ext cx="3931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微软雅黑" panose="020B0503020204020204" charset="-122"/>
              </a:rPr>
              <a:t>智聘通：把数据转化为可执行的求职决策</a:t>
            </a:r>
            <a:endParaRPr sz="1100" b="1">
              <a:solidFill>
                <a:srgbClr val="2563EB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4360" y="3858768"/>
            <a:ext cx="4114800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E293B"/>
                </a:solidFill>
                <a:latin typeface="微软雅黑" panose="020B0503020204020204" charset="-122"/>
              </a:rPr>
              <a:t>四项核心创新</a:t>
            </a:r>
            <a:endParaRPr sz="14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94360" y="4270248"/>
            <a:ext cx="2633472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484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4471416"/>
            <a:ext cx="38404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52728" y="4425696"/>
            <a:ext cx="1810512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AI × 业务深度融合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39318" y="4924044"/>
            <a:ext cx="2533650" cy="3225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岗位解读、简历优化、市场分析、职业助手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 algn="l"/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形成“分析 → 追问 → 决策”闭环。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3364992" y="4270248"/>
            <a:ext cx="2633472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29584" y="4434840"/>
            <a:ext cx="384048" cy="384048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29584" y="4471416"/>
            <a:ext cx="38404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023360" y="4425696"/>
            <a:ext cx="1810512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统一智能匹配框架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566160" y="4999990"/>
            <a:ext cx="2353310" cy="693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 panose="020B0503020204020204" charset="-122"/>
              </a:rPr>
              <a:t>技能、薪资、地点、</a:t>
            </a:r>
            <a:endParaRPr sz="12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 algn="l"/>
            <a:r>
              <a:rPr sz="1200" b="0">
                <a:solidFill>
                  <a:srgbClr val="475569"/>
                </a:solidFill>
                <a:latin typeface="微软雅黑" panose="020B0503020204020204" charset="-122"/>
              </a:rPr>
              <a:t>经验、学历五维统一建模，</a:t>
            </a:r>
            <a:endParaRPr sz="120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 algn="l"/>
            <a:r>
              <a:rPr sz="1200" b="0">
                <a:solidFill>
                  <a:srgbClr val="475569"/>
                </a:solidFill>
                <a:latin typeface="微软雅黑" panose="020B0503020204020204" charset="-122"/>
              </a:rPr>
              <a:t>求职端与企业端复用同一评分逻辑。</a:t>
            </a:r>
            <a:endParaRPr sz="120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6135624" y="4270248"/>
            <a:ext cx="2633472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00216" y="4434840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0216" y="4471416"/>
            <a:ext cx="38404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793992" y="4425696"/>
            <a:ext cx="1810512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工程化真实数据采集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793992" y="4809744"/>
            <a:ext cx="1733550" cy="9690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Selenium 多线程 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 algn="l"/>
            <a:r>
              <a:rPr lang="en-US" sz="1050" b="0">
                <a:solidFill>
                  <a:srgbClr val="475569"/>
                </a:solidFill>
                <a:latin typeface="微软雅黑" panose="020B0503020204020204" charset="-122"/>
              </a:rPr>
              <a:t>     </a:t>
            </a:r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+ 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 algn="l"/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双源采集 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 algn="l"/>
            <a:r>
              <a:rPr lang="en-US" sz="1050" b="0">
                <a:solidFill>
                  <a:srgbClr val="475569"/>
                </a:solidFill>
                <a:latin typeface="微软雅黑" panose="020B0503020204020204" charset="-122"/>
              </a:rPr>
              <a:t>     </a:t>
            </a:r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+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 algn="l"/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 CDP 登录态复用，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 algn="l"/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并配合结构监测与自动降级。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8906256" y="4270248"/>
            <a:ext cx="2660904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070848" y="4434840"/>
            <a:ext cx="384048" cy="38404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0848" y="4471416"/>
            <a:ext cx="38404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9564624" y="4425696"/>
            <a:ext cx="1837944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微软雅黑" panose="020B0503020204020204" charset="-122"/>
              </a:rPr>
              <a:t>数据驱动招聘决策</a:t>
            </a:r>
            <a:endParaRPr sz="15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9564624" y="4809744"/>
            <a:ext cx="1333500" cy="8077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薪资统一 K/月，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 algn="l"/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多维 ECharts 分析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 algn="l"/>
            <a:r>
              <a:rPr lang="en-US" sz="1050" b="0">
                <a:solidFill>
                  <a:srgbClr val="475569"/>
                </a:solidFill>
                <a:latin typeface="微软雅黑" panose="020B0503020204020204" charset="-122"/>
              </a:rPr>
              <a:t>           </a:t>
            </a:r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 + 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 algn="l"/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AI 自然语言结论，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  <a:p>
            <a:pPr algn="l"/>
            <a:r>
              <a:rPr sz="1050" b="0">
                <a:solidFill>
                  <a:srgbClr val="475569"/>
                </a:solidFill>
                <a:latin typeface="微软雅黑" panose="020B0503020204020204" charset="-122"/>
              </a:rPr>
              <a:t>让数据真正辅助判断。</a:t>
            </a:r>
            <a:endParaRPr sz="1050" b="0">
              <a:solidFill>
                <a:srgbClr val="475569"/>
              </a:solidFill>
              <a:latin typeface="微软雅黑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594360" y="6016752"/>
            <a:ext cx="10972800" cy="45720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" y="6126480"/>
            <a:ext cx="104241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1E40AF"/>
                </a:solidFill>
                <a:latin typeface="微软雅黑" panose="020B0503020204020204" charset="-122"/>
              </a:rPr>
              <a:t>数据采集  →  数据理解  →  智能匹配  →  AI 辅助  →  决策反馈</a:t>
            </a:r>
            <a:endParaRPr sz="1100" b="1">
              <a:solidFill>
                <a:srgbClr val="1E40AF"/>
              </a:solidFill>
              <a:latin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94360" y="6537960"/>
            <a:ext cx="54864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微软雅黑" panose="020B0503020204020204" charset="-122"/>
              </a:rPr>
              <a:t>智聘通 · 智能招聘平台  |  毕业设计答辩</a:t>
            </a:r>
            <a:endParaRPr sz="850" b="0">
              <a:solidFill>
                <a:srgbClr val="94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202B3E"/>
                </a:solidFill>
                <a:latin typeface="微软雅黑" panose="020B0503020204020204" charset="-122"/>
              </a:rPr>
              <a:t>项目目标</a:t>
            </a:r>
            <a:endParaRPr sz="250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7768F"/>
                </a:solidFill>
                <a:latin typeface="微软雅黑" panose="020B0503020204020204" charset="-122"/>
              </a:rPr>
              <a:t>四个目标贯穿“采集—分析—匹配—决策”闭环</a:t>
            </a:r>
            <a:endParaRPr sz="10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12648" y="1234440"/>
            <a:ext cx="1051560" cy="45720"/>
          </a:xfrm>
          <a:prstGeom prst="rect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29768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59A23"/>
                </a:solidFill>
                <a:latin typeface="微软雅黑" panose="020B0503020204020204" charset="-122"/>
              </a:rPr>
              <a:t>01</a:t>
            </a:r>
            <a:endParaRPr sz="85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481328"/>
            <a:ext cx="52120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773936"/>
            <a:ext cx="457200" cy="457200"/>
          </a:xfrm>
          <a:prstGeom prst="ellipse">
            <a:avLst/>
          </a:prstGeom>
          <a:solidFill>
            <a:srgbClr val="425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83080"/>
            <a:ext cx="4572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554480" y="1709928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4252EB"/>
                </a:solidFill>
                <a:latin typeface="微软雅黑" panose="020B0503020204020204" charset="-122"/>
              </a:rPr>
              <a:t>多源可靠的数据底座</a:t>
            </a:r>
            <a:endParaRPr sz="1700" b="1">
              <a:solidFill>
                <a:srgbClr val="4252EB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54480" y="2167128"/>
            <a:ext cx="3977639" cy="445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202B3E"/>
                </a:solidFill>
                <a:latin typeface="微软雅黑" panose="020B0503020204020204" charset="-122"/>
              </a:rPr>
              <a:t>Selenium</a:t>
            </a:r>
            <a:r>
              <a:rPr sz="1150" b="0">
                <a:solidFill>
                  <a:srgbClr val="202B3E"/>
                </a:solidFill>
                <a:latin typeface="微软雅黑" panose="020B0503020204020204" charset="-122"/>
              </a:rPr>
              <a:t> 多线程爬取 51job，抗反爬 + 自动降级，构建干净可用职位数据库</a:t>
            </a:r>
            <a:endParaRPr sz="115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81928" y="1481328"/>
            <a:ext cx="52120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56248" y="1773936"/>
            <a:ext cx="457200" cy="457200"/>
          </a:xfrm>
          <a:prstGeom prst="ellipse">
            <a:avLst/>
          </a:prstGeom>
          <a:solidFill>
            <a:srgbClr val="704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783080"/>
            <a:ext cx="4572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178040" y="1709928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7043EE"/>
                </a:solidFill>
                <a:latin typeface="微软雅黑" panose="020B0503020204020204" charset="-122"/>
              </a:rPr>
              <a:t>个性化智能匹配</a:t>
            </a:r>
            <a:endParaRPr sz="1700" b="1">
              <a:solidFill>
                <a:srgbClr val="7043EE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178040" y="2167128"/>
            <a:ext cx="3977639" cy="445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02B3E"/>
                </a:solidFill>
                <a:latin typeface="微软雅黑" panose="020B0503020204020204" charset="-122"/>
              </a:rPr>
              <a:t>技能 / 薪资 / 地点 / 经验 / 学历</a:t>
            </a:r>
            <a:r>
              <a:rPr sz="1150" b="1">
                <a:solidFill>
                  <a:srgbClr val="202B3E"/>
                </a:solidFill>
                <a:latin typeface="微软雅黑" panose="020B0503020204020204" charset="-122"/>
              </a:rPr>
              <a:t>五维加权评分</a:t>
            </a:r>
            <a:r>
              <a:rPr sz="1150" b="0">
                <a:solidFill>
                  <a:srgbClr val="202B3E"/>
                </a:solidFill>
                <a:latin typeface="微软雅黑" panose="020B0503020204020204" charset="-122"/>
              </a:rPr>
              <a:t>，支持求职端推荐 + 企业端候选匹配</a:t>
            </a:r>
            <a:endParaRPr sz="115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58368" y="3630168"/>
            <a:ext cx="52120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88" y="3922776"/>
            <a:ext cx="457200" cy="457200"/>
          </a:xfrm>
          <a:prstGeom prst="ellipse">
            <a:avLst/>
          </a:prstGeom>
          <a:solidFill>
            <a:srgbClr val="23B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931920"/>
            <a:ext cx="4572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554480" y="3858768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3B88B"/>
                </a:solidFill>
                <a:latin typeface="微软雅黑" panose="020B0503020204020204" charset="-122"/>
              </a:rPr>
              <a:t>AI 深度辅助</a:t>
            </a:r>
            <a:endParaRPr sz="1700" b="1">
              <a:solidFill>
                <a:srgbClr val="23B88B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54480" y="4315968"/>
            <a:ext cx="3977639" cy="4527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02B3E"/>
                </a:solidFill>
                <a:latin typeface="微软雅黑" panose="020B0503020204020204" charset="-122"/>
              </a:rPr>
              <a:t>DeepSeek</a:t>
            </a:r>
            <a:r>
              <a:rPr sz="1150" b="0">
                <a:solidFill>
                  <a:srgbClr val="202B3E"/>
                </a:solidFill>
                <a:latin typeface="微软雅黑" panose="020B0503020204020204" charset="-122"/>
              </a:rPr>
              <a:t> 集成</a:t>
            </a:r>
            <a:r>
              <a:rPr sz="1150" b="1">
                <a:solidFill>
                  <a:srgbClr val="202B3E"/>
                </a:solidFill>
                <a:latin typeface="微软雅黑" panose="020B0503020204020204" charset="-122"/>
              </a:rPr>
              <a:t>岗位解读、简历优化、职业助手</a:t>
            </a:r>
            <a:r>
              <a:rPr sz="1150" b="0">
                <a:solidFill>
                  <a:srgbClr val="202B3E"/>
                </a:solidFill>
                <a:latin typeface="微软雅黑" panose="020B0503020204020204" charset="-122"/>
              </a:rPr>
              <a:t>，并自动归档形成可追问闭环</a:t>
            </a:r>
            <a:endParaRPr sz="115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281928" y="3630168"/>
            <a:ext cx="52120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56248" y="3922776"/>
            <a:ext cx="457200" cy="457200"/>
          </a:xfrm>
          <a:prstGeom prst="ellipse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3931920"/>
            <a:ext cx="4572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178040" y="3858768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59A23"/>
                </a:solidFill>
                <a:latin typeface="微软雅黑" panose="020B0503020204020204" charset="-122"/>
              </a:rPr>
              <a:t>数据驱动可视化</a:t>
            </a:r>
            <a:endParaRPr sz="17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178040" y="4315968"/>
            <a:ext cx="3977639" cy="2679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202B3E"/>
                </a:solidFill>
                <a:latin typeface="微软雅黑" panose="020B0503020204020204" charset="-122"/>
              </a:rPr>
              <a:t>ECharts</a:t>
            </a:r>
            <a:r>
              <a:rPr sz="1150" b="0">
                <a:solidFill>
                  <a:srgbClr val="202B3E"/>
                </a:solidFill>
                <a:latin typeface="微软雅黑" panose="020B0503020204020204" charset="-122"/>
              </a:rPr>
              <a:t> 多维图表 + </a:t>
            </a:r>
            <a:r>
              <a:rPr sz="1150" b="1">
                <a:solidFill>
                  <a:srgbClr val="202B3E"/>
                </a:solidFill>
                <a:latin typeface="微软雅黑" panose="020B0503020204020204" charset="-122"/>
              </a:rPr>
              <a:t>AI</a:t>
            </a:r>
            <a:r>
              <a:rPr sz="1150" b="0">
                <a:solidFill>
                  <a:srgbClr val="202B3E"/>
                </a:solidFill>
                <a:latin typeface="微软雅黑" panose="020B0503020204020204" charset="-122"/>
              </a:rPr>
              <a:t> 结论，直观呈现</a:t>
            </a:r>
            <a:r>
              <a:rPr sz="1150" b="1">
                <a:solidFill>
                  <a:srgbClr val="202B3E"/>
                </a:solidFill>
                <a:latin typeface="微软雅黑" panose="020B0503020204020204" charset="-122"/>
              </a:rPr>
              <a:t>就业市场趋势</a:t>
            </a:r>
            <a:endParaRPr sz="115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914400" y="5577840"/>
            <a:ext cx="1508760" cy="438912"/>
          </a:xfrm>
          <a:prstGeom prst="roundRect">
            <a:avLst/>
          </a:prstGeom>
          <a:solidFill>
            <a:srgbClr val="192744"/>
          </a:solidFill>
          <a:ln w="12700">
            <a:solidFill>
              <a:srgbClr val="19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650992"/>
            <a:ext cx="1508760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数据采集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487168" y="5614416"/>
            <a:ext cx="34747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9A23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971800" y="5577840"/>
            <a:ext cx="1508760" cy="438912"/>
          </a:xfrm>
          <a:prstGeom prst="roundRect">
            <a:avLst/>
          </a:prstGeom>
          <a:solidFill>
            <a:srgbClr val="F0F3F9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800" y="5650992"/>
            <a:ext cx="1508760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202B3E"/>
                </a:solidFill>
                <a:latin typeface="微软雅黑" panose="020B0503020204020204" charset="-122"/>
              </a:rPr>
              <a:t>清洗归一化</a:t>
            </a:r>
            <a:endParaRPr sz="140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44568" y="5614416"/>
            <a:ext cx="34747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9A23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029200" y="5577840"/>
            <a:ext cx="1508760" cy="438912"/>
          </a:xfrm>
          <a:prstGeom prst="roundRect">
            <a:avLst/>
          </a:prstGeom>
          <a:solidFill>
            <a:srgbClr val="F0F3F9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5650992"/>
            <a:ext cx="1508760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202B3E"/>
                </a:solidFill>
                <a:latin typeface="微软雅黑" panose="020B0503020204020204" charset="-122"/>
              </a:rPr>
              <a:t>五维匹配</a:t>
            </a:r>
            <a:endParaRPr sz="140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601968" y="5614416"/>
            <a:ext cx="34747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9A23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7086600" y="5577840"/>
            <a:ext cx="1508760" cy="438912"/>
          </a:xfrm>
          <a:prstGeom prst="roundRect">
            <a:avLst/>
          </a:prstGeom>
          <a:solidFill>
            <a:srgbClr val="F0F3F9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86600" y="5650992"/>
            <a:ext cx="1508760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202B3E"/>
                </a:solidFill>
                <a:latin typeface="微软雅黑" panose="020B0503020204020204" charset="-122"/>
              </a:rPr>
              <a:t>AI增强</a:t>
            </a:r>
            <a:endParaRPr sz="140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659368" y="5614416"/>
            <a:ext cx="34747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9A23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9144000" y="5577840"/>
            <a:ext cx="1508760" cy="438912"/>
          </a:xfrm>
          <a:prstGeom prst="roundRect">
            <a:avLst/>
          </a:prstGeom>
          <a:solidFill>
            <a:srgbClr val="F0F3F9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5650992"/>
            <a:ext cx="1508760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202B3E"/>
                </a:solidFill>
                <a:latin typeface="微软雅黑" panose="020B0503020204020204" charset="-122"/>
              </a:rPr>
              <a:t>可视化</a:t>
            </a:r>
            <a:endParaRPr sz="140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94360" y="6565392"/>
            <a:ext cx="4754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智聘通 · 智能招聘平台    |    毕业设计答辩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1018520" y="6565392"/>
            <a:ext cx="548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03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微软雅黑" panose="020B0503020204020204" charset="-122"/>
              </a:rPr>
              <a:t>技术栈与选型</a:t>
            </a:r>
            <a:endParaRPr sz="2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BBC7DC"/>
                </a:solidFill>
                <a:latin typeface="微软雅黑" panose="020B0503020204020204" charset="-122"/>
              </a:rPr>
              <a:t>语言 · 框架 · 工具 · 数据库 · AI</a:t>
            </a:r>
            <a:endParaRPr sz="1050" b="0">
              <a:solidFill>
                <a:srgbClr val="BBC7DC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12648" y="1234440"/>
            <a:ext cx="1051560" cy="45720"/>
          </a:xfrm>
          <a:prstGeom prst="rect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29768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59A23"/>
                </a:solidFill>
                <a:latin typeface="微软雅黑" panose="020B0503020204020204" charset="-122"/>
              </a:rPr>
              <a:t>02</a:t>
            </a:r>
            <a:endParaRPr sz="85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1417320" cy="530352"/>
          </a:xfrm>
          <a:prstGeom prst="roundRect">
            <a:avLst/>
          </a:prstGeom>
          <a:solidFill>
            <a:srgbClr val="4252EB"/>
          </a:solidFill>
          <a:ln w="12700">
            <a:solidFill>
              <a:srgbClr val="425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1"/>
            <a:ext cx="1417320" cy="3371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后端语言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313432" y="1572768"/>
            <a:ext cx="3611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D6DFEE"/>
                </a:solidFill>
                <a:latin typeface="微软雅黑" panose="020B0503020204020204" charset="-122"/>
              </a:rPr>
              <a:t>Python 3.9+</a:t>
            </a:r>
            <a:endParaRPr sz="1150" b="0">
              <a:solidFill>
                <a:srgbClr val="D6DFEE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5800" y="2350008"/>
            <a:ext cx="1417320" cy="530352"/>
          </a:xfrm>
          <a:prstGeom prst="roundRect">
            <a:avLst/>
          </a:prstGeom>
          <a:solidFill>
            <a:srgbClr val="4252EB"/>
          </a:solidFill>
          <a:ln w="12700">
            <a:solidFill>
              <a:srgbClr val="425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68879"/>
            <a:ext cx="1417320" cy="3371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Web框架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13432" y="2414015"/>
            <a:ext cx="3611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D6DFEE"/>
                </a:solidFill>
                <a:latin typeface="微软雅黑" panose="020B0503020204020204" charset="-122"/>
              </a:rPr>
              <a:t>Flask 3 / Flask-SQLAlchemy / JWT / Bcrypt</a:t>
            </a:r>
            <a:endParaRPr sz="1150" b="0">
              <a:solidFill>
                <a:srgbClr val="D6DFEE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85800" y="3191256"/>
            <a:ext cx="1417320" cy="530352"/>
          </a:xfrm>
          <a:prstGeom prst="roundRect">
            <a:avLst/>
          </a:prstGeom>
          <a:solidFill>
            <a:srgbClr val="4252EB"/>
          </a:solidFill>
          <a:ln w="12700">
            <a:solidFill>
              <a:srgbClr val="425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10128"/>
            <a:ext cx="1417320" cy="3371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爬虫工具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313432" y="3255264"/>
            <a:ext cx="3611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D6DFEE"/>
                </a:solidFill>
                <a:latin typeface="微软雅黑" panose="020B0503020204020204" charset="-122"/>
              </a:rPr>
              <a:t>Selenium + Edge WebDriver</a:t>
            </a:r>
            <a:endParaRPr sz="1150" b="0">
              <a:solidFill>
                <a:srgbClr val="D6DFEE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85800" y="4032504"/>
            <a:ext cx="1417320" cy="530352"/>
          </a:xfrm>
          <a:prstGeom prst="roundRect">
            <a:avLst/>
          </a:prstGeom>
          <a:solidFill>
            <a:srgbClr val="4252EB"/>
          </a:solidFill>
          <a:ln w="12700">
            <a:solidFill>
              <a:srgbClr val="425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51376"/>
            <a:ext cx="1417320" cy="3371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调度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313432" y="4096512"/>
            <a:ext cx="3611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D6DFEE"/>
                </a:solidFill>
                <a:latin typeface="微软雅黑" panose="020B0503020204020204" charset="-122"/>
              </a:rPr>
              <a:t>APScheduler（每 6h 定时爬取）</a:t>
            </a:r>
            <a:endParaRPr sz="1150" b="0">
              <a:solidFill>
                <a:srgbClr val="D6DFEE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400800" y="1508760"/>
            <a:ext cx="1417320" cy="530352"/>
          </a:xfrm>
          <a:prstGeom prst="roundRect">
            <a:avLst/>
          </a:prstGeom>
          <a:solidFill>
            <a:srgbClr val="7043EE"/>
          </a:solidFill>
          <a:ln w="12700">
            <a:solidFill>
              <a:srgbClr val="704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627631"/>
            <a:ext cx="1417320" cy="3371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前端框架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028431" y="1572768"/>
            <a:ext cx="3611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D6DFEE"/>
                </a:solidFill>
                <a:latin typeface="微软雅黑" panose="020B0503020204020204" charset="-122"/>
              </a:rPr>
              <a:t>Vue 3 + Vite</a:t>
            </a:r>
            <a:endParaRPr sz="1150" b="0">
              <a:solidFill>
                <a:srgbClr val="D6DFEE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400800" y="2350008"/>
            <a:ext cx="1417320" cy="530352"/>
          </a:xfrm>
          <a:prstGeom prst="roundRect">
            <a:avLst/>
          </a:prstGeom>
          <a:solidFill>
            <a:srgbClr val="7043EE"/>
          </a:solidFill>
          <a:ln w="12700">
            <a:solidFill>
              <a:srgbClr val="704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468879"/>
            <a:ext cx="1417320" cy="3371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UI / 图表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028431" y="2414015"/>
            <a:ext cx="3611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D6DFEE"/>
                </a:solidFill>
                <a:latin typeface="微软雅黑" panose="020B0503020204020204" charset="-122"/>
              </a:rPr>
              <a:t>Element Plus / ECharts</a:t>
            </a:r>
            <a:endParaRPr sz="1150" b="0">
              <a:solidFill>
                <a:srgbClr val="D6DFEE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400800" y="3191256"/>
            <a:ext cx="1417320" cy="530352"/>
          </a:xfrm>
          <a:prstGeom prst="roundRect">
            <a:avLst/>
          </a:prstGeom>
          <a:solidFill>
            <a:srgbClr val="7043EE"/>
          </a:solidFill>
          <a:ln w="12700">
            <a:solidFill>
              <a:srgbClr val="704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310128"/>
            <a:ext cx="1417320" cy="3371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状态 / 路由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028431" y="3255264"/>
            <a:ext cx="3611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D6DFEE"/>
                </a:solidFill>
                <a:latin typeface="微软雅黑" panose="020B0503020204020204" charset="-122"/>
              </a:rPr>
              <a:t>Pinia / Vue Router</a:t>
            </a:r>
            <a:endParaRPr sz="1150" b="0">
              <a:solidFill>
                <a:srgbClr val="D6DFEE"/>
              </a:solidFill>
              <a:latin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400800" y="4032504"/>
            <a:ext cx="1417320" cy="530352"/>
          </a:xfrm>
          <a:prstGeom prst="roundRect">
            <a:avLst/>
          </a:prstGeom>
          <a:solidFill>
            <a:srgbClr val="7043EE"/>
          </a:solidFill>
          <a:ln w="12700">
            <a:solidFill>
              <a:srgbClr val="704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151376"/>
            <a:ext cx="1417320" cy="3371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数据库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028431" y="4096512"/>
            <a:ext cx="3611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D6DFEE"/>
                </a:solidFill>
                <a:latin typeface="微软雅黑" panose="020B0503020204020204" charset="-122"/>
              </a:rPr>
              <a:t>SQLite</a:t>
            </a:r>
            <a:endParaRPr sz="1150" b="0">
              <a:solidFill>
                <a:srgbClr val="D6DFEE"/>
              </a:solidFill>
              <a:latin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400800" y="4873752"/>
            <a:ext cx="1417320" cy="530352"/>
          </a:xfrm>
          <a:prstGeom prst="roundRect">
            <a:avLst/>
          </a:prstGeom>
          <a:solidFill>
            <a:srgbClr val="7043EE"/>
          </a:solidFill>
          <a:ln w="12700">
            <a:solidFill>
              <a:srgbClr val="704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992624"/>
            <a:ext cx="1417320" cy="3371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AI 模型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028431" y="4937760"/>
            <a:ext cx="3611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D6DFEE"/>
                </a:solidFill>
                <a:latin typeface="微软雅黑" panose="020B0503020204020204" charset="-122"/>
              </a:rPr>
              <a:t>DeepSeek Chat Completions</a:t>
            </a:r>
            <a:endParaRPr sz="1150" b="0">
              <a:solidFill>
                <a:srgbClr val="D6DFEE"/>
              </a:solidFill>
              <a:latin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13232" y="5486400"/>
            <a:ext cx="10744200" cy="566928"/>
          </a:xfrm>
          <a:prstGeom prst="roundRect">
            <a:avLst/>
          </a:prstGeom>
          <a:solidFill>
            <a:srgbClr val="192744"/>
          </a:solidFill>
          <a:ln w="12700">
            <a:solidFill>
              <a:srgbClr val="3B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650992"/>
            <a:ext cx="10241280" cy="275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8D4E8"/>
                </a:solidFill>
                <a:latin typeface="微软雅黑" panose="020B0503020204020204" charset="-122"/>
              </a:rPr>
              <a:t>选型理由：Flask 轻量易定制 · Vue3 + Element 生态成熟 · SQLite 单机演示友好 · DeepSeek 成本低且支持 JSON 结构化输出</a:t>
            </a:r>
            <a:endParaRPr sz="1200" b="0">
              <a:solidFill>
                <a:srgbClr val="C8D4E8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94360" y="6565392"/>
            <a:ext cx="4754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>
                <a:solidFill>
                  <a:srgbClr val="A4B1C7"/>
                </a:solidFill>
                <a:latin typeface="微软雅黑" panose="020B0503020204020204" charset="-122"/>
              </a:rPr>
              <a:t>智聘通 · 智能招聘平台    |    毕业设计答辩</a:t>
            </a:r>
            <a:endParaRPr sz="750" b="0">
              <a:solidFill>
                <a:srgbClr val="A4B1C7"/>
              </a:solidFill>
              <a:latin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1018520" y="6565392"/>
            <a:ext cx="548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0">
                <a:solidFill>
                  <a:srgbClr val="A4B1C7"/>
                </a:solidFill>
                <a:latin typeface="微软雅黑" panose="020B0503020204020204" charset="-122"/>
              </a:rPr>
              <a:t>04</a:t>
            </a:r>
            <a:endParaRPr sz="750" b="0">
              <a:solidFill>
                <a:srgbClr val="A4B1C7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202B3E"/>
                </a:solidFill>
                <a:latin typeface="微软雅黑" panose="020B0503020204020204" charset="-122"/>
              </a:rPr>
              <a:t>项目总体架构</a:t>
            </a:r>
            <a:endParaRPr sz="250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7768F"/>
                </a:solidFill>
                <a:latin typeface="微软雅黑" panose="020B0503020204020204" charset="-122"/>
              </a:rPr>
              <a:t>数据 → 采集 → 处理 → 分析 → 可视化 → 展示</a:t>
            </a:r>
            <a:endParaRPr sz="10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12648" y="1234440"/>
            <a:ext cx="1051560" cy="45720"/>
          </a:xfrm>
          <a:prstGeom prst="rect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29768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59A23"/>
                </a:solidFill>
                <a:latin typeface="微软雅黑" panose="020B0503020204020204" charset="-122"/>
              </a:rPr>
              <a:t>03</a:t>
            </a:r>
            <a:endParaRPr sz="85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30352" y="1828800"/>
            <a:ext cx="16276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7512" y="1993392"/>
            <a:ext cx="1353312" cy="530352"/>
          </a:xfrm>
          <a:prstGeom prst="roundRect">
            <a:avLst/>
          </a:prstGeom>
          <a:solidFill>
            <a:srgbClr val="4252EB"/>
          </a:solidFill>
          <a:ln w="12700">
            <a:solidFill>
              <a:srgbClr val="425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121408"/>
            <a:ext cx="1353312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  <a:latin typeface="微软雅黑" panose="020B0503020204020204" charset="-122"/>
              </a:rPr>
              <a:t>数据</a:t>
            </a: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来源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94944" y="2761488"/>
            <a:ext cx="1298448" cy="275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202B3E"/>
                </a:solidFill>
                <a:latin typeface="微软雅黑" panose="020B0503020204020204" charset="-122"/>
              </a:rPr>
              <a:t>前程无忧 51job</a:t>
            </a:r>
            <a:endParaRPr sz="120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194560" y="2633472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9A23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32304" y="1828800"/>
            <a:ext cx="16276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9464" y="1993392"/>
            <a:ext cx="1353312" cy="530352"/>
          </a:xfrm>
          <a:prstGeom prst="roundRect">
            <a:avLst/>
          </a:prstGeom>
          <a:solidFill>
            <a:srgbClr val="2FAEDC"/>
          </a:solidFill>
          <a:ln w="12700">
            <a:solidFill>
              <a:srgbClr val="2FA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9464" y="2121408"/>
            <a:ext cx="1353312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  <a:latin typeface="微软雅黑" panose="020B0503020204020204" charset="-122"/>
              </a:rPr>
              <a:t>数据</a:t>
            </a: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采集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596896" y="2761488"/>
            <a:ext cx="1298448" cy="3987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202B3E"/>
                </a:solidFill>
                <a:latin typeface="微软雅黑" panose="020B0503020204020204" charset="-122"/>
              </a:rPr>
              <a:t>Selenium 多线程
抗反爬 · 定时任务</a:t>
            </a:r>
            <a:endParaRPr sz="100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096512" y="2633472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9A23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334256" y="1828800"/>
            <a:ext cx="16276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1416" y="1993392"/>
            <a:ext cx="1353312" cy="530352"/>
          </a:xfrm>
          <a:prstGeom prst="roundRect">
            <a:avLst/>
          </a:prstGeom>
          <a:solidFill>
            <a:srgbClr val="7043EE"/>
          </a:solidFill>
          <a:ln w="12700">
            <a:solidFill>
              <a:srgbClr val="704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1416" y="2121408"/>
            <a:ext cx="1353312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  <a:latin typeface="微软雅黑" panose="020B0503020204020204" charset="-122"/>
              </a:rPr>
              <a:t>数据</a:t>
            </a: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处理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498848" y="2761488"/>
            <a:ext cx="1298448" cy="460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202B3E"/>
                </a:solidFill>
                <a:latin typeface="微软雅黑" panose="020B0503020204020204" charset="-122"/>
              </a:rPr>
              <a:t>清洗归一化
薪资 → K/月</a:t>
            </a:r>
            <a:endParaRPr sz="120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98464" y="2633472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9A23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236208" y="1828800"/>
            <a:ext cx="16276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73368" y="1993392"/>
            <a:ext cx="1353312" cy="530352"/>
          </a:xfrm>
          <a:prstGeom prst="roundRect">
            <a:avLst/>
          </a:prstGeom>
          <a:solidFill>
            <a:srgbClr val="23B88B"/>
          </a:solidFill>
          <a:ln w="12700">
            <a:solidFill>
              <a:srgbClr val="23B8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2121408"/>
            <a:ext cx="1353312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  <a:latin typeface="微软雅黑" panose="020B0503020204020204" charset="-122"/>
              </a:rPr>
              <a:t>数据</a:t>
            </a: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分析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00800" y="2761488"/>
            <a:ext cx="1298448" cy="645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202B3E"/>
                </a:solidFill>
                <a:latin typeface="微软雅黑" panose="020B0503020204020204" charset="-122"/>
              </a:rPr>
              <a:t>五维匹配
多维聚合 · DeepSeek</a:t>
            </a:r>
            <a:endParaRPr sz="120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900416" y="2633472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9A23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138160" y="1828800"/>
            <a:ext cx="16276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75320" y="1993392"/>
            <a:ext cx="1353312" cy="530352"/>
          </a:xfrm>
          <a:prstGeom prst="roundRect">
            <a:avLst/>
          </a:prstGeom>
          <a:solidFill>
            <a:srgbClr val="F59A23"/>
          </a:solidFill>
          <a:ln w="12700">
            <a:solidFill>
              <a:srgbClr val="F59A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121408"/>
            <a:ext cx="1353312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  <a:latin typeface="微软雅黑" panose="020B0503020204020204" charset="-122"/>
              </a:rPr>
              <a:t>数据</a:t>
            </a: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可视化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302752" y="2761488"/>
            <a:ext cx="1298448" cy="460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202B3E"/>
                </a:solidFill>
                <a:latin typeface="微软雅黑" panose="020B0503020204020204" charset="-122"/>
              </a:rPr>
              <a:t>ECharts 图表
AI 结论</a:t>
            </a:r>
            <a:endParaRPr sz="120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802368" y="2633472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9A23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10040112" y="1828800"/>
            <a:ext cx="16276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177272" y="1993392"/>
            <a:ext cx="1353312" cy="530352"/>
          </a:xfrm>
          <a:prstGeom prst="roundRect">
            <a:avLst/>
          </a:prstGeom>
          <a:solidFill>
            <a:srgbClr val="192744"/>
          </a:solidFill>
          <a:ln w="12700">
            <a:solidFill>
              <a:srgbClr val="19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77272" y="2121408"/>
            <a:ext cx="1353312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系统展示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204704" y="2761488"/>
            <a:ext cx="1298448" cy="645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202B3E"/>
                </a:solidFill>
                <a:latin typeface="微软雅黑" panose="020B0503020204020204" charset="-122"/>
              </a:rPr>
              <a:t>职位大厅
智能推荐 · 市场分析</a:t>
            </a:r>
            <a:endParaRPr sz="120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914400" y="4343400"/>
            <a:ext cx="10332720" cy="960120"/>
          </a:xfrm>
          <a:prstGeom prst="roundRect">
            <a:avLst/>
          </a:prstGeom>
          <a:solidFill>
            <a:srgbClr val="0F1930"/>
          </a:solidFill>
          <a:ln w="12700">
            <a:solidFill>
              <a:srgbClr val="0F19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0940" y="4601845"/>
            <a:ext cx="1397635" cy="3987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59A23"/>
                </a:solidFill>
                <a:latin typeface="微软雅黑" panose="020B0503020204020204" charset="-122"/>
              </a:rPr>
              <a:t>业务闭环</a:t>
            </a:r>
            <a:endParaRPr sz="20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468880" y="4653661"/>
            <a:ext cx="8549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登录 → 简历 / 画像建模 → 智能推荐 → AI 解读 → 投递决策 → 市场分析复盘就业趋势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60120" y="5650992"/>
            <a:ext cx="10241280" cy="275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7768F"/>
                </a:solidFill>
                <a:latin typeface="微软雅黑" panose="020B0503020204020204" charset="-122"/>
              </a:rPr>
              <a:t>前端层：Vue3 求职端  |  企业端：职位管理 / 候选人匹配  |  管理端：用户管理 / 爬虫控制台</a:t>
            </a:r>
            <a:endParaRPr sz="120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94360" y="6565392"/>
            <a:ext cx="4754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智聘通 · 智能招聘平台    |    毕业设计答辩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1018520" y="6565392"/>
            <a:ext cx="548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05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202B3E"/>
                </a:solidFill>
                <a:latin typeface="微软雅黑" panose="020B0503020204020204" charset="-122"/>
              </a:rPr>
              <a:t>核心数据处理流程</a:t>
            </a:r>
            <a:endParaRPr sz="250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7768F"/>
                </a:solidFill>
                <a:latin typeface="微软雅黑" panose="020B0503020204020204" charset="-122"/>
              </a:rPr>
              <a:t>采集 → 清洗 → 模型 → 可视化</a:t>
            </a:r>
            <a:endParaRPr sz="10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12648" y="1234440"/>
            <a:ext cx="1051560" cy="45720"/>
          </a:xfrm>
          <a:prstGeom prst="rect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29768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59A23"/>
                </a:solidFill>
                <a:latin typeface="微软雅黑" panose="020B0503020204020204" charset="-122"/>
              </a:rPr>
              <a:t>04</a:t>
            </a:r>
            <a:endParaRPr sz="85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212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73152" cy="1783080"/>
          </a:xfrm>
          <a:prstGeom prst="rect">
            <a:avLst/>
          </a:prstGeom>
          <a:solidFill>
            <a:srgbClr val="425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1737360"/>
            <a:ext cx="3383280" cy="368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4252EB"/>
                </a:solidFill>
                <a:latin typeface="微软雅黑" panose="020B0503020204020204" charset="-122"/>
              </a:rPr>
              <a:t>数据采集模块</a:t>
            </a:r>
            <a:endParaRPr b="1">
              <a:solidFill>
                <a:srgbClr val="4252EB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19" y="2194560"/>
            <a:ext cx="4526280" cy="460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02B3E"/>
                </a:solidFill>
                <a:latin typeface="微软雅黑" panose="020B0503020204020204" charset="-122"/>
              </a:rPr>
              <a:t>Selenium 加载 SPA 列表页提取职位卡片；SPA + 手机版双源；CDP 复用登录态；UA / 代理 / 间隔 / 验证码</a:t>
            </a:r>
            <a:endParaRPr sz="120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212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08760"/>
            <a:ext cx="73152" cy="1783080"/>
          </a:xfrm>
          <a:prstGeom prst="rect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37360"/>
            <a:ext cx="3383280" cy="368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F59A23"/>
                </a:solidFill>
                <a:latin typeface="微软雅黑" panose="020B0503020204020204" charset="-122"/>
              </a:rPr>
              <a:t>清洗模块</a:t>
            </a:r>
            <a:endParaRPr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83680" y="2194560"/>
            <a:ext cx="4526280" cy="460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02B3E"/>
                </a:solidFill>
                <a:latin typeface="微软雅黑" panose="020B0503020204020204" charset="-122"/>
              </a:rPr>
              <a:t>解析薪资文本并归一化为 K/月；技能标签 JSON；城市代码映射 28 城</a:t>
            </a:r>
            <a:endParaRPr sz="120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212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03320"/>
            <a:ext cx="73152" cy="1783080"/>
          </a:xfrm>
          <a:prstGeom prst="rect">
            <a:avLst/>
          </a:prstGeom>
          <a:solidFill>
            <a:srgbClr val="704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3931920"/>
            <a:ext cx="3383280" cy="368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7043EE"/>
                </a:solidFill>
                <a:latin typeface="微软雅黑" panose="020B0503020204020204" charset="-122"/>
              </a:rPr>
              <a:t>分析模型</a:t>
            </a:r>
            <a:endParaRPr b="1">
              <a:solidFill>
                <a:srgbClr val="7043EE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19" y="4389120"/>
            <a:ext cx="4526280" cy="460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02B3E"/>
                </a:solidFill>
                <a:latin typeface="微软雅黑" panose="020B0503020204020204" charset="-122"/>
              </a:rPr>
              <a:t>五维加权匹配评分；市场数据多维聚合；DeepSeek 生成岗位解读与分析结论</a:t>
            </a:r>
            <a:endParaRPr sz="120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63640" y="3703320"/>
            <a:ext cx="5212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703320"/>
            <a:ext cx="73152" cy="1783080"/>
          </a:xfrm>
          <a:prstGeom prst="rect">
            <a:avLst/>
          </a:prstGeom>
          <a:solidFill>
            <a:srgbClr val="23B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931920"/>
            <a:ext cx="3383280" cy="368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B88B"/>
                </a:solidFill>
                <a:latin typeface="微软雅黑" panose="020B0503020204020204" charset="-122"/>
              </a:rPr>
              <a:t>可视化展示</a:t>
            </a:r>
            <a:endParaRPr b="1">
              <a:solidFill>
                <a:srgbClr val="23B88B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83680" y="4389120"/>
            <a:ext cx="4526280" cy="460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02B3E"/>
                </a:solidFill>
                <a:latin typeface="微软雅黑" panose="020B0503020204020204" charset="-122"/>
              </a:rPr>
              <a:t>ECharts 柱 / 饼 / 横向条形图；岗位需求、平均薪资、学历影响、学历分布、地区排行 + AI 结论</a:t>
            </a:r>
            <a:endParaRPr sz="120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14400" y="5715000"/>
            <a:ext cx="10332720" cy="457200"/>
          </a:xfrm>
          <a:prstGeom prst="roundRect">
            <a:avLst/>
          </a:prstGeom>
          <a:solidFill>
            <a:srgbClr val="192744"/>
          </a:solidFill>
          <a:ln w="12700">
            <a:solidFill>
              <a:srgbClr val="19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792216"/>
            <a:ext cx="10012680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薪资归一化：万/月 ×10 ｜ 千/月 原值 ｜ 万/年 ÷12 ｜ 元/天 ×22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94360" y="6565392"/>
            <a:ext cx="4754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智聘通 · 智能招聘平台    |    毕业设计答辩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018520" y="6565392"/>
            <a:ext cx="548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06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3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66928" y="310896"/>
            <a:ext cx="80467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500" b="1">
                <a:solidFill>
                  <a:srgbClr val="F5F8FF"/>
                </a:solidFill>
                <a:latin typeface="微软雅黑" panose="020B0503020204020204" charset="-122"/>
              </a:rPr>
              <a:t>核心算法：动态五维智能匹配</a:t>
            </a:r>
            <a:endParaRPr sz="250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960120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50" b="0">
                <a:solidFill>
                  <a:srgbClr val="A0AFC9"/>
                </a:solidFill>
                <a:latin typeface="微软雅黑" panose="020B0503020204020204" charset="-122"/>
              </a:rPr>
              <a:t>从“固定权重”升级为“数据驱动权重”——让推荐结果有依据、会学习、可解释</a:t>
            </a:r>
            <a:endParaRPr sz="115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5029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1">
                <a:solidFill>
                  <a:srgbClr val="FF9F24"/>
                </a:solidFill>
                <a:latin typeface="微软雅黑" panose="020B0503020204020204" charset="-122"/>
              </a:rPr>
              <a:t>04</a:t>
            </a:r>
            <a:endParaRPr sz="1000" b="1">
              <a:solidFill>
                <a:srgbClr val="FF9F24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1298448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F5F8FF"/>
                </a:solidFill>
                <a:latin typeface="微软雅黑" panose="020B0503020204020204" charset="-122"/>
              </a:rPr>
              <a:t>为什么要升级？</a:t>
            </a:r>
            <a:endParaRPr sz="140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85216" y="1719072"/>
            <a:ext cx="2907792" cy="841248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92807"/>
            <a:ext cx="420624" cy="420624"/>
          </a:xfrm>
          <a:prstGeom prst="roundRect">
            <a:avLst/>
          </a:prstGeom>
          <a:solidFill>
            <a:srgbClr val="4C5BEB"/>
          </a:solidFill>
          <a:ln>
            <a:solidFill>
              <a:srgbClr val="4C5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92807"/>
            <a:ext cx="420624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5F8FF"/>
                </a:solidFill>
                <a:latin typeface="微软雅黑" panose="020B0503020204020204" charset="-122"/>
              </a:rPr>
              <a:t>01</a:t>
            </a:r>
            <a:endParaRPr sz="90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98448" y="1810512"/>
            <a:ext cx="164592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50" b="1">
                <a:solidFill>
                  <a:srgbClr val="F5F8FF"/>
                </a:solidFill>
                <a:latin typeface="微软雅黑" panose="020B0503020204020204" charset="-122"/>
              </a:rPr>
              <a:t>固定权重</a:t>
            </a:r>
            <a:endParaRPr sz="115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98448" y="2077593"/>
            <a:ext cx="1524000" cy="361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A0AFC9"/>
                </a:solidFill>
                <a:latin typeface="微软雅黑" panose="020B0503020204020204" charset="-122"/>
              </a:rPr>
              <a:t>所有用户使用同一套权重，</a:t>
            </a:r>
            <a:endParaRPr sz="880" b="0">
              <a:solidFill>
                <a:srgbClr val="A0AFC9"/>
              </a:solidFill>
              <a:latin typeface="微软雅黑" panose="020B0503020204020204" charset="-122"/>
            </a:endParaRPr>
          </a:p>
          <a:p>
            <a:pPr algn="l"/>
            <a:r>
              <a:rPr sz="880" b="0">
                <a:solidFill>
                  <a:srgbClr val="A0AFC9"/>
                </a:solidFill>
                <a:latin typeface="微软雅黑" panose="020B0503020204020204" charset="-122"/>
              </a:rPr>
              <a:t>无法体现个体差异</a:t>
            </a:r>
            <a:endParaRPr sz="88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85216" y="2688336"/>
            <a:ext cx="2907792" cy="841248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2862072"/>
            <a:ext cx="420624" cy="420624"/>
          </a:xfrm>
          <a:prstGeom prst="roundRect">
            <a:avLst/>
          </a:prstGeom>
          <a:solidFill>
            <a:srgbClr val="4C5BEB"/>
          </a:solidFill>
          <a:ln>
            <a:solidFill>
              <a:srgbClr val="4C5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862072"/>
            <a:ext cx="420624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5F8FF"/>
                </a:solidFill>
                <a:latin typeface="微软雅黑" panose="020B0503020204020204" charset="-122"/>
              </a:rPr>
              <a:t>02</a:t>
            </a:r>
            <a:endParaRPr sz="90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298448" y="2779776"/>
            <a:ext cx="164592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50" b="1">
                <a:solidFill>
                  <a:srgbClr val="F5F8FF"/>
                </a:solidFill>
                <a:latin typeface="微软雅黑" panose="020B0503020204020204" charset="-122"/>
              </a:rPr>
              <a:t>推荐不够准</a:t>
            </a:r>
            <a:endParaRPr sz="115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298448" y="3044952"/>
            <a:ext cx="19659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A0AFC9"/>
                </a:solidFill>
                <a:latin typeface="微软雅黑" panose="020B0503020204020204" charset="-122"/>
              </a:rPr>
              <a:t>只看静态画像，缺少真实行为反馈</a:t>
            </a:r>
            <a:endParaRPr sz="88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85216" y="3657600"/>
            <a:ext cx="2907792" cy="841248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3831336"/>
            <a:ext cx="420624" cy="420624"/>
          </a:xfrm>
          <a:prstGeom prst="roundRect">
            <a:avLst/>
          </a:prstGeom>
          <a:solidFill>
            <a:srgbClr val="4C5BEB"/>
          </a:solidFill>
          <a:ln>
            <a:solidFill>
              <a:srgbClr val="4C5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831336"/>
            <a:ext cx="420624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5F8FF"/>
                </a:solidFill>
                <a:latin typeface="微软雅黑" panose="020B0503020204020204" charset="-122"/>
              </a:rPr>
              <a:t>03</a:t>
            </a:r>
            <a:endParaRPr sz="90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298448" y="3749039"/>
            <a:ext cx="164592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50" b="1">
                <a:solidFill>
                  <a:srgbClr val="F5F8FF"/>
                </a:solidFill>
                <a:latin typeface="微软雅黑" panose="020B0503020204020204" charset="-122"/>
              </a:rPr>
              <a:t>缺少依据</a:t>
            </a:r>
            <a:endParaRPr sz="115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298448" y="4014215"/>
            <a:ext cx="19659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A0AFC9"/>
                </a:solidFill>
                <a:latin typeface="微软雅黑" panose="020B0503020204020204" charset="-122"/>
              </a:rPr>
              <a:t>权重来源不透明，难以解释“为什么推荐”</a:t>
            </a:r>
            <a:endParaRPr sz="88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794760" y="1298448"/>
            <a:ext cx="31089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F5F8FF"/>
                </a:solidFill>
                <a:latin typeface="微软雅黑" panose="020B0503020204020204" charset="-122"/>
              </a:rPr>
              <a:t>升级后的推荐机制</a:t>
            </a:r>
            <a:endParaRPr sz="140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794760" y="1700784"/>
            <a:ext cx="1874519" cy="658368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1792224"/>
            <a:ext cx="1572768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F5F8FF"/>
                </a:solidFill>
                <a:latin typeface="微软雅黑" panose="020B0503020204020204" charset="-122"/>
              </a:rPr>
              <a:t>用户画像</a:t>
            </a:r>
            <a:endParaRPr sz="115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950208" y="2002536"/>
            <a:ext cx="157276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50" b="0">
                <a:solidFill>
                  <a:srgbClr val="A0AFC9"/>
                </a:solidFill>
                <a:latin typeface="微软雅黑" panose="020B0503020204020204" charset="-122"/>
              </a:rPr>
              <a:t>技能 / 薪资 / 地点 / 经验 / 学历</a:t>
            </a:r>
            <a:endParaRPr sz="75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943600" y="1700784"/>
            <a:ext cx="1874519" cy="658368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9048" y="1792224"/>
            <a:ext cx="1572768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F5F8FF"/>
                </a:solidFill>
                <a:latin typeface="微软雅黑" panose="020B0503020204020204" charset="-122"/>
              </a:rPr>
              <a:t>岗位特征</a:t>
            </a:r>
            <a:endParaRPr sz="115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099048" y="2002536"/>
            <a:ext cx="157276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50" b="0">
                <a:solidFill>
                  <a:srgbClr val="A0AFC9"/>
                </a:solidFill>
                <a:latin typeface="微软雅黑" panose="020B0503020204020204" charset="-122"/>
              </a:rPr>
              <a:t>职位 / 薪资 / 城市 / 要求</a:t>
            </a:r>
            <a:endParaRPr sz="75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5669280" y="2029968"/>
            <a:ext cx="274320" cy="0"/>
          </a:xfrm>
          <a:prstGeom prst="line">
            <a:avLst/>
          </a:prstGeom>
          <a:ln w="25400">
            <a:solidFill>
              <a:srgbClr val="30B1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617720" y="2706624"/>
            <a:ext cx="2377440" cy="1024128"/>
          </a:xfrm>
          <a:prstGeom prst="roundRect">
            <a:avLst/>
          </a:prstGeom>
          <a:solidFill>
            <a:srgbClr val="4C5BEB"/>
          </a:solidFill>
          <a:ln>
            <a:solidFill>
              <a:srgbClr val="4C5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8032" y="2816352"/>
            <a:ext cx="1956816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5F8FF"/>
                </a:solidFill>
                <a:latin typeface="微软雅黑" panose="020B0503020204020204" charset="-122"/>
              </a:rPr>
              <a:t>动态权重引擎</a:t>
            </a:r>
            <a:endParaRPr sz="150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828032" y="3108960"/>
            <a:ext cx="1956816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F5F8FF"/>
                </a:solidFill>
                <a:latin typeface="微软雅黑" panose="020B0503020204020204" charset="-122"/>
              </a:rPr>
              <a:t>全局区分度 + 用户行为反馈</a:t>
            </a:r>
            <a:endParaRPr sz="850" b="0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828032" y="3355848"/>
            <a:ext cx="1956816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50" b="0">
                <a:solidFill>
                  <a:srgbClr val="DAE1FF"/>
                </a:solidFill>
                <a:latin typeface="微软雅黑" panose="020B0503020204020204" charset="-122"/>
              </a:rPr>
              <a:t>冷启动 → 学习 → 个性化</a:t>
            </a:r>
            <a:endParaRPr sz="750" b="0">
              <a:solidFill>
                <a:srgbClr val="DAE1FF"/>
              </a:solidFill>
              <a:latin typeface="微软雅黑" panose="020B0503020204020204" charset="-122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4727448" y="2359152"/>
            <a:ext cx="621792" cy="347472"/>
          </a:xfrm>
          <a:prstGeom prst="line">
            <a:avLst/>
          </a:prstGeom>
          <a:ln w="22860">
            <a:solidFill>
              <a:srgbClr val="30B1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6263640" y="2359152"/>
            <a:ext cx="621792" cy="347472"/>
          </a:xfrm>
          <a:prstGeom prst="line">
            <a:avLst/>
          </a:prstGeom>
          <a:ln w="22860">
            <a:solidFill>
              <a:srgbClr val="30B1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794760" y="4023360"/>
            <a:ext cx="1261872" cy="438912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94760" y="4023360"/>
            <a:ext cx="1261872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30B1DE"/>
                </a:solidFill>
                <a:latin typeface="微软雅黑" panose="020B0503020204020204" charset="-122"/>
              </a:rPr>
              <a:t>岗位区分度</a:t>
            </a:r>
            <a:endParaRPr sz="850" b="1">
              <a:solidFill>
                <a:srgbClr val="30B1DE"/>
              </a:solidFill>
              <a:latin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230368" y="4023360"/>
            <a:ext cx="1261872" cy="438912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30368" y="4023360"/>
            <a:ext cx="1261872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24BE8E"/>
                </a:solidFill>
                <a:latin typeface="微软雅黑" panose="020B0503020204020204" charset="-122"/>
              </a:rPr>
              <a:t>收藏 / 投递</a:t>
            </a:r>
            <a:endParaRPr sz="850" b="1">
              <a:solidFill>
                <a:srgbClr val="24BE8E"/>
              </a:solidFill>
              <a:latin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665976" y="4023360"/>
            <a:ext cx="1261872" cy="438912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5976" y="4023360"/>
            <a:ext cx="1261872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F9F24"/>
                </a:solidFill>
                <a:latin typeface="微软雅黑" panose="020B0503020204020204" charset="-122"/>
              </a:rPr>
              <a:t>点击 / 浏览</a:t>
            </a:r>
            <a:endParaRPr sz="850" b="1">
              <a:solidFill>
                <a:srgbClr val="FF9F24"/>
              </a:solidFill>
              <a:latin typeface="微软雅黑" panose="020B0503020204020204" charset="-122"/>
            </a:endParaRPr>
          </a:p>
        </p:txBody>
      </p:sp>
      <p:cxnSp>
        <p:nvCxnSpPr>
          <p:cNvPr id="41" name="Connector 40"/>
          <p:cNvCxnSpPr/>
          <p:nvPr/>
        </p:nvCxnSpPr>
        <p:spPr>
          <a:xfrm flipH="1">
            <a:off x="4425696" y="3730752"/>
            <a:ext cx="804672" cy="292608"/>
          </a:xfrm>
          <a:prstGeom prst="line">
            <a:avLst/>
          </a:prstGeom>
          <a:ln w="15240">
            <a:solidFill>
              <a:srgbClr val="30B1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806440" y="3730752"/>
            <a:ext cx="54864" cy="292608"/>
          </a:xfrm>
          <a:prstGeom prst="line">
            <a:avLst/>
          </a:prstGeom>
          <a:ln w="15240">
            <a:solidFill>
              <a:srgbClr val="24BE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382512" y="3730752"/>
            <a:ext cx="914400" cy="292608"/>
          </a:xfrm>
          <a:prstGeom prst="line">
            <a:avLst/>
          </a:prstGeom>
          <a:ln w="15240">
            <a:solidFill>
              <a:srgbClr val="FF9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794760" y="4645152"/>
            <a:ext cx="4133087" cy="841248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95928" y="4745736"/>
            <a:ext cx="3749039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F5F8FF"/>
                </a:solidFill>
                <a:latin typeface="微软雅黑" panose="020B0503020204020204" charset="-122"/>
              </a:rPr>
              <a:t>最终得分 = Σ（维度匹配度 × 动态权重）</a:t>
            </a:r>
            <a:endParaRPr sz="115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995928" y="5038344"/>
            <a:ext cx="3749039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A0AFC9"/>
                </a:solidFill>
                <a:latin typeface="微软雅黑" panose="020B0503020204020204" charset="-122"/>
              </a:rPr>
              <a:t>权重随岗位数据与用户行为持续更新</a:t>
            </a:r>
            <a:endParaRPr sz="85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183879" y="1298448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F5F8FF"/>
                </a:solidFill>
                <a:latin typeface="微软雅黑" panose="020B0503020204020204" charset="-122"/>
              </a:rPr>
              <a:t>核心创新点</a:t>
            </a:r>
            <a:endParaRPr sz="140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8183879" y="1700784"/>
            <a:ext cx="3401568" cy="804672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366760" y="1856232"/>
            <a:ext cx="420624" cy="420624"/>
          </a:xfrm>
          <a:prstGeom prst="roundRect">
            <a:avLst/>
          </a:prstGeom>
          <a:solidFill>
            <a:srgbClr val="30B1DE"/>
          </a:solidFill>
          <a:ln>
            <a:solidFill>
              <a:srgbClr val="30B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66760" y="1856232"/>
            <a:ext cx="420624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5F8FF"/>
                </a:solidFill>
                <a:latin typeface="微软雅黑" panose="020B0503020204020204" charset="-122"/>
              </a:rPr>
              <a:t>01</a:t>
            </a:r>
            <a:endParaRPr sz="85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942832" y="1783080"/>
            <a:ext cx="2267712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80" b="1">
                <a:solidFill>
                  <a:srgbClr val="F5F8FF"/>
                </a:solidFill>
                <a:latin typeface="微软雅黑" panose="020B0503020204020204" charset="-122"/>
              </a:rPr>
              <a:t>数据驱动</a:t>
            </a:r>
            <a:endParaRPr sz="108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942832" y="2039112"/>
            <a:ext cx="2359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30" b="0">
                <a:solidFill>
                  <a:srgbClr val="A0AFC9"/>
                </a:solidFill>
                <a:latin typeface="微软雅黑" panose="020B0503020204020204" charset="-122"/>
              </a:rPr>
              <a:t>用岗位区分度确定全局权重，避免“拍脑袋”</a:t>
            </a:r>
            <a:endParaRPr sz="83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8183879" y="2596896"/>
            <a:ext cx="3401568" cy="804672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366760" y="2752344"/>
            <a:ext cx="420624" cy="420624"/>
          </a:xfrm>
          <a:prstGeom prst="roundRect">
            <a:avLst/>
          </a:prstGeom>
          <a:solidFill>
            <a:srgbClr val="24BE8E"/>
          </a:solidFill>
          <a:ln>
            <a:solidFill>
              <a:srgbClr val="24B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66760" y="2752344"/>
            <a:ext cx="420624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5F8FF"/>
                </a:solidFill>
                <a:latin typeface="微软雅黑" panose="020B0503020204020204" charset="-122"/>
              </a:rPr>
              <a:t>02</a:t>
            </a:r>
            <a:endParaRPr sz="85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942832" y="2679191"/>
            <a:ext cx="2267712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80" b="1">
                <a:solidFill>
                  <a:srgbClr val="F5F8FF"/>
                </a:solidFill>
                <a:latin typeface="微软雅黑" panose="020B0503020204020204" charset="-122"/>
              </a:rPr>
              <a:t>个性化学习</a:t>
            </a:r>
            <a:endParaRPr sz="108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942832" y="2935224"/>
            <a:ext cx="2359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30" b="0">
                <a:solidFill>
                  <a:srgbClr val="A0AFC9"/>
                </a:solidFill>
                <a:latin typeface="微软雅黑" panose="020B0503020204020204" charset="-122"/>
              </a:rPr>
              <a:t>结合收藏、投递、点击等反馈动态调整个人偏好</a:t>
            </a:r>
            <a:endParaRPr sz="83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8183879" y="3493008"/>
            <a:ext cx="3401568" cy="804672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366760" y="3648456"/>
            <a:ext cx="420624" cy="420624"/>
          </a:xfrm>
          <a:prstGeom prst="roundRect">
            <a:avLst/>
          </a:prstGeom>
          <a:solidFill>
            <a:srgbClr val="FF9F24"/>
          </a:solidFill>
          <a:ln>
            <a:solidFill>
              <a:srgbClr val="FF9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66760" y="3648456"/>
            <a:ext cx="420624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5F8FF"/>
                </a:solidFill>
                <a:latin typeface="微软雅黑" panose="020B0503020204020204" charset="-122"/>
              </a:rPr>
              <a:t>03</a:t>
            </a:r>
            <a:endParaRPr sz="85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942832" y="3575303"/>
            <a:ext cx="2267712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80" b="1">
                <a:solidFill>
                  <a:srgbClr val="F5F8FF"/>
                </a:solidFill>
                <a:latin typeface="微软雅黑" panose="020B0503020204020204" charset="-122"/>
              </a:rPr>
              <a:t>冷启动机制</a:t>
            </a:r>
            <a:endParaRPr sz="108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942832" y="3831335"/>
            <a:ext cx="2359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30" b="0">
                <a:solidFill>
                  <a:srgbClr val="A0AFC9"/>
                </a:solidFill>
                <a:latin typeface="微软雅黑" panose="020B0503020204020204" charset="-122"/>
              </a:rPr>
              <a:t>无行为数据时使用全局权重，数据积累后逐步个性化</a:t>
            </a:r>
            <a:endParaRPr sz="83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8183879" y="4389120"/>
            <a:ext cx="3401568" cy="804672"/>
          </a:xfrm>
          <a:prstGeom prst="roundRect">
            <a:avLst/>
          </a:prstGeom>
          <a:solidFill>
            <a:srgbClr val="122242"/>
          </a:solidFill>
          <a:ln>
            <a:solidFill>
              <a:srgbClr val="31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366760" y="4544568"/>
            <a:ext cx="420624" cy="420624"/>
          </a:xfrm>
          <a:prstGeom prst="roundRect">
            <a:avLst/>
          </a:prstGeom>
          <a:solidFill>
            <a:srgbClr val="7D4EEF"/>
          </a:solidFill>
          <a:ln>
            <a:solidFill>
              <a:srgbClr val="7D4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66760" y="4544568"/>
            <a:ext cx="420624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5F8FF"/>
                </a:solidFill>
                <a:latin typeface="微软雅黑" panose="020B0503020204020204" charset="-122"/>
              </a:rPr>
              <a:t>04</a:t>
            </a:r>
            <a:endParaRPr sz="85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942832" y="4471416"/>
            <a:ext cx="2267712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80" b="1">
                <a:solidFill>
                  <a:srgbClr val="F5F8FF"/>
                </a:solidFill>
                <a:latin typeface="微软雅黑" panose="020B0503020204020204" charset="-122"/>
              </a:rPr>
              <a:t>可解释推荐</a:t>
            </a:r>
            <a:endParaRPr sz="108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8942832" y="4727448"/>
            <a:ext cx="2359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30" b="0">
                <a:solidFill>
                  <a:srgbClr val="A0AFC9"/>
                </a:solidFill>
                <a:latin typeface="微软雅黑" panose="020B0503020204020204" charset="-122"/>
              </a:rPr>
              <a:t>输出匹配原因，让用户知道“为什么推荐”</a:t>
            </a:r>
            <a:endParaRPr sz="83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85216" y="5669280"/>
            <a:ext cx="11000232" cy="658368"/>
          </a:xfrm>
          <a:prstGeom prst="roundRect">
            <a:avLst/>
          </a:prstGeom>
          <a:solidFill>
            <a:srgbClr val="14274A"/>
          </a:solidFill>
          <a:ln>
            <a:solidFill>
              <a:srgbClr val="3E5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5769864"/>
            <a:ext cx="1078992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9F24"/>
                </a:solidFill>
                <a:latin typeface="微软雅黑" panose="020B0503020204020204" charset="-122"/>
              </a:rPr>
              <a:t>升级结果</a:t>
            </a:r>
            <a:endParaRPr sz="1000" b="1">
              <a:solidFill>
                <a:srgbClr val="FF9F24"/>
              </a:solidFill>
              <a:latin typeface="微软雅黑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965960" y="5760720"/>
            <a:ext cx="9098280" cy="2468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20" b="1">
                <a:solidFill>
                  <a:srgbClr val="F5F8FF"/>
                </a:solidFill>
                <a:latin typeface="微软雅黑" panose="020B0503020204020204" charset="-122"/>
              </a:rPr>
              <a:t>固定规则推荐  →  数据驱动推荐     |     单一权重  →  全局 + 个性化     |     黑盒结果  →  可解释匹配</a:t>
            </a:r>
            <a:endParaRPr sz="1020" b="1">
              <a:solidFill>
                <a:srgbClr val="F5F8FF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585216" y="6400800"/>
            <a:ext cx="3200400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A0AFC9"/>
                </a:solidFill>
                <a:latin typeface="微软雅黑" panose="020B0503020204020204" charset="-122"/>
              </a:rPr>
              <a:t>智聘通 · 智能招聘平台   |   毕业设计答辩</a:t>
            </a:r>
            <a:endParaRPr sz="75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11109960" y="6400800"/>
            <a:ext cx="411480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A0AFC9"/>
                </a:solidFill>
                <a:latin typeface="微软雅黑" panose="020B0503020204020204" charset="-122"/>
              </a:rPr>
              <a:t>07</a:t>
            </a:r>
            <a:endParaRPr sz="800" b="0">
              <a:solidFill>
                <a:srgbClr val="A0AFC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202B3E"/>
                </a:solidFill>
                <a:latin typeface="微软雅黑" panose="020B0503020204020204" charset="-122"/>
              </a:rPr>
              <a:t>核心功能：真实系统运行界面</a:t>
            </a:r>
            <a:endParaRPr sz="250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7768F"/>
                </a:solidFill>
                <a:latin typeface="微软雅黑" panose="020B0503020204020204" charset="-122"/>
              </a:rPr>
              <a:t>职位大厅 · 智能推荐 · 市场分析</a:t>
            </a:r>
            <a:endParaRPr sz="10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12648" y="1234440"/>
            <a:ext cx="1051560" cy="45720"/>
          </a:xfrm>
          <a:prstGeom prst="rect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29768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59A23"/>
                </a:solidFill>
                <a:latin typeface="微软雅黑" panose="020B0503020204020204" charset="-122"/>
              </a:rPr>
              <a:t>04</a:t>
            </a:r>
            <a:endParaRPr sz="85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3657600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27c4a9b-cb3f-4a90-b490-c34b67c536d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2600" y="1394460"/>
            <a:ext cx="3881120" cy="23685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434840" y="1444752"/>
            <a:ext cx="3456432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398698c-1c08-405f-bde6-28d21a3ba2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940" y="1403350"/>
            <a:ext cx="3634740" cy="235077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65008" y="1444752"/>
            <a:ext cx="3529584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ad64238-f469-46f1-b602-0891dc8528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2265" y="1396365"/>
            <a:ext cx="3735705" cy="23647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4360" y="388620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4252EB"/>
                </a:solidFill>
                <a:latin typeface="微软雅黑" panose="020B0503020204020204" charset="-122"/>
              </a:rPr>
              <a:t>职位大厅</a:t>
            </a:r>
            <a:endParaRPr sz="1500" b="1">
              <a:solidFill>
                <a:srgbClr val="4252EB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425196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80" b="0">
                <a:solidFill>
                  <a:srgbClr val="202B3E"/>
                </a:solidFill>
                <a:latin typeface="微软雅黑" panose="020B0503020204020204" charset="-122"/>
              </a:rPr>
              <a:t>204 个在招职位 · 多条件筛选 · 原文直达</a:t>
            </a:r>
            <a:endParaRPr sz="108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34840" y="388620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043EE"/>
                </a:solidFill>
                <a:latin typeface="微软雅黑" panose="020B0503020204020204" charset="-122"/>
              </a:rPr>
              <a:t>智能推荐</a:t>
            </a:r>
            <a:endParaRPr sz="1500" b="1">
              <a:solidFill>
                <a:srgbClr val="7043EE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34840" y="425196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80" b="0">
                <a:solidFill>
                  <a:srgbClr val="202B3E"/>
                </a:solidFill>
                <a:latin typeface="微软雅黑" panose="020B0503020204020204" charset="-122"/>
              </a:rPr>
              <a:t>五维匹配 · 匹配度 · 薪资 / 技能 / 地点解释</a:t>
            </a:r>
            <a:endParaRPr sz="108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65008" y="388620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3B88B"/>
                </a:solidFill>
                <a:latin typeface="微软雅黑" panose="020B0503020204020204" charset="-122"/>
              </a:rPr>
              <a:t>市场分析</a:t>
            </a:r>
            <a:endParaRPr sz="1500" b="1">
              <a:solidFill>
                <a:srgbClr val="23B88B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65008" y="425196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80" b="0">
                <a:solidFill>
                  <a:srgbClr val="202B3E"/>
                </a:solidFill>
                <a:latin typeface="微软雅黑" panose="020B0503020204020204" charset="-122"/>
              </a:rPr>
              <a:t>岗位需求 · 平均薪资 · 学历影响 · 学历分布</a:t>
            </a:r>
            <a:endParaRPr sz="108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85800" y="5074920"/>
            <a:ext cx="34290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5276088"/>
            <a:ext cx="384048" cy="384048"/>
          </a:xfrm>
          <a:prstGeom prst="ellipse">
            <a:avLst/>
          </a:prstGeom>
          <a:solidFill>
            <a:srgbClr val="425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285231"/>
            <a:ext cx="384048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17320" y="5193792"/>
            <a:ext cx="1417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02B3E"/>
                </a:solidFill>
                <a:latin typeface="微软雅黑" panose="020B0503020204020204" charset="-122"/>
              </a:rPr>
              <a:t>我的收藏</a:t>
            </a:r>
            <a:endParaRPr sz="125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417320" y="5477256"/>
            <a:ext cx="2331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67768F"/>
                </a:solidFill>
                <a:latin typeface="微软雅黑" panose="020B0503020204020204" charset="-122"/>
              </a:rPr>
              <a:t>保存目标职位，集中管理</a:t>
            </a:r>
            <a:endParaRPr sz="98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480560" y="5074920"/>
            <a:ext cx="34290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63440" y="5276088"/>
            <a:ext cx="384048" cy="384048"/>
          </a:xfrm>
          <a:prstGeom prst="ellipse">
            <a:avLst/>
          </a:prstGeom>
          <a:solidFill>
            <a:srgbClr val="704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5285231"/>
            <a:ext cx="384048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212080" y="5193792"/>
            <a:ext cx="1417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02B3E"/>
                </a:solidFill>
                <a:latin typeface="微软雅黑" panose="020B0503020204020204" charset="-122"/>
              </a:rPr>
              <a:t>个人中心</a:t>
            </a:r>
            <a:endParaRPr sz="125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212080" y="5477256"/>
            <a:ext cx="2331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67768F"/>
                </a:solidFill>
                <a:latin typeface="微软雅黑" panose="020B0503020204020204" charset="-122"/>
              </a:rPr>
              <a:t>完善求职画像与求职期望</a:t>
            </a:r>
            <a:endParaRPr sz="98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275320" y="5074920"/>
            <a:ext cx="34290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458200" y="5276088"/>
            <a:ext cx="384048" cy="384048"/>
          </a:xfrm>
          <a:prstGeom prst="ellipse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200" y="5285231"/>
            <a:ext cx="384048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006840" y="5193792"/>
            <a:ext cx="1417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02B3E"/>
                </a:solidFill>
                <a:latin typeface="微软雅黑" panose="020B0503020204020204" charset="-122"/>
              </a:rPr>
              <a:t>我的简历</a:t>
            </a:r>
            <a:endParaRPr sz="125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006840" y="5477256"/>
            <a:ext cx="2331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67768F"/>
                </a:solidFill>
                <a:latin typeface="微软雅黑" panose="020B0503020204020204" charset="-122"/>
              </a:rPr>
              <a:t>PDF / Word / TXT 上传解析</a:t>
            </a:r>
            <a:endParaRPr sz="98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94360" y="6565392"/>
            <a:ext cx="4754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智聘通 · 智能招聘平台    |    毕业设计答辩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018520" y="6565392"/>
            <a:ext cx="548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08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202B3E"/>
                </a:solidFill>
                <a:latin typeface="微软雅黑" panose="020B0503020204020204" charset="-122"/>
              </a:rPr>
              <a:t>数据分析与可视化成果</a:t>
            </a:r>
            <a:endParaRPr sz="250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7768F"/>
                </a:solidFill>
                <a:latin typeface="微软雅黑" panose="020B0503020204020204" charset="-122"/>
              </a:rPr>
              <a:t>多维 ECharts 图表 + AI 生成分析结论</a:t>
            </a:r>
            <a:endParaRPr sz="10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12648" y="1234440"/>
            <a:ext cx="1051560" cy="45720"/>
          </a:xfrm>
          <a:prstGeom prst="rect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29768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59A23"/>
                </a:solidFill>
                <a:latin typeface="微软雅黑" panose="020B0503020204020204" charset="-122"/>
              </a:rPr>
              <a:t>05</a:t>
            </a:r>
            <a:endParaRPr sz="85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658368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ad64238-f469-46f1-b602-0891dc8528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035" y="1396365"/>
            <a:ext cx="6704965" cy="42024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52360" y="1417320"/>
            <a:ext cx="4160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1627632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252EB"/>
                </a:solidFill>
                <a:latin typeface="微软雅黑" panose="020B0503020204020204" charset="-122"/>
              </a:rPr>
              <a:t>岗位需求排行</a:t>
            </a:r>
            <a:endParaRPr sz="1400" b="1">
              <a:solidFill>
                <a:srgbClr val="4252EB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726679" y="1938528"/>
            <a:ext cx="3474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20" b="0">
                <a:solidFill>
                  <a:srgbClr val="202B3E"/>
                </a:solidFill>
                <a:latin typeface="微软雅黑" panose="020B0503020204020204" charset="-122"/>
              </a:rPr>
              <a:t>销售 63 · Java 51 · 后端 34 · 其他 33</a:t>
            </a:r>
            <a:endParaRPr sz="102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452360" y="2670048"/>
            <a:ext cx="4160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2880360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3B88B"/>
                </a:solidFill>
                <a:latin typeface="微软雅黑" panose="020B0503020204020204" charset="-122"/>
              </a:rPr>
              <a:t>岗位平均薪资</a:t>
            </a:r>
            <a:endParaRPr sz="1400" b="1">
              <a:solidFill>
                <a:srgbClr val="23B88B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26679" y="3191256"/>
            <a:ext cx="3520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202B3E"/>
                </a:solidFill>
                <a:latin typeface="微软雅黑" panose="020B0503020204020204" charset="-122"/>
              </a:rPr>
              <a:t>前端 27K · 产品 20.9K · 后端 18.7K · Python 16.4K</a:t>
            </a:r>
            <a:endParaRPr sz="96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452360" y="3922776"/>
            <a:ext cx="4160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4133087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A23"/>
                </a:solidFill>
                <a:latin typeface="微软雅黑" panose="020B0503020204020204" charset="-122"/>
              </a:rPr>
              <a:t>学历影响</a:t>
            </a:r>
            <a:endParaRPr sz="14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726679" y="4443984"/>
            <a:ext cx="3520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202B3E"/>
                </a:solidFill>
                <a:latin typeface="微软雅黑" panose="020B0503020204020204" charset="-122"/>
              </a:rPr>
              <a:t>高中 9.5K → 大专 13.7K → 本科 16.6K → 硕士 28.0K</a:t>
            </a:r>
            <a:endParaRPr sz="98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452360" y="5175504"/>
            <a:ext cx="4160520" cy="658368"/>
          </a:xfrm>
          <a:prstGeom prst="roundRect">
            <a:avLst/>
          </a:prstGeom>
          <a:solidFill>
            <a:srgbClr val="0F1930"/>
          </a:solidFill>
          <a:ln w="12700">
            <a:solidFill>
              <a:srgbClr val="0F19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5376672"/>
            <a:ext cx="3566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 panose="020B0503020204020204" charset="-122"/>
              </a:rPr>
              <a:t>AI：从图表聚合到自然语言洞察</a:t>
            </a:r>
            <a:endParaRPr sz="11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6565392"/>
            <a:ext cx="4754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智聘通 · 智能招聘平台    |    毕业设计答辩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018520" y="6565392"/>
            <a:ext cx="548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09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202B3E"/>
                </a:solidFill>
                <a:latin typeface="微软雅黑" panose="020B0503020204020204" charset="-122"/>
              </a:rPr>
              <a:t>AI 能力：从解读到持续对话</a:t>
            </a:r>
            <a:endParaRPr sz="250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7768F"/>
                </a:solidFill>
                <a:latin typeface="微软雅黑" panose="020B0503020204020204" charset="-122"/>
              </a:rPr>
              <a:t>DeepSeek 驱动的岗位理解、简历优化与职业助手</a:t>
            </a:r>
            <a:endParaRPr sz="10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12648" y="1234440"/>
            <a:ext cx="1051560" cy="45720"/>
          </a:xfrm>
          <a:prstGeom prst="rect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29768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59A23"/>
                </a:solidFill>
                <a:latin typeface="微软雅黑" panose="020B0503020204020204" charset="-122"/>
              </a:rPr>
              <a:t>05</a:t>
            </a:r>
            <a:endParaRPr sz="85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792" y="1444752"/>
            <a:ext cx="6720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53b332e-cce1-4f69-ab61-d9f67aa8397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335" y="1396365"/>
            <a:ext cx="6922135" cy="4439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71231" y="1481328"/>
            <a:ext cx="3977639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99831" y="162763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4252EB"/>
                </a:solidFill>
                <a:latin typeface="微软雅黑" panose="020B0503020204020204" charset="-122"/>
              </a:rPr>
              <a:t>岗位深度解读</a:t>
            </a:r>
            <a:endParaRPr sz="1250" b="1">
              <a:solidFill>
                <a:srgbClr val="4252EB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799831" y="1920240"/>
            <a:ext cx="3429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核心技能 / 适配建议 / 成长路径 / 面试提示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571231" y="2560320"/>
            <a:ext cx="3977639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9831" y="2706624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7043EE"/>
                </a:solidFill>
                <a:latin typeface="微软雅黑" panose="020B0503020204020204" charset="-122"/>
              </a:rPr>
              <a:t>简历 AI 优化</a:t>
            </a:r>
            <a:endParaRPr sz="1250" b="1">
              <a:solidFill>
                <a:srgbClr val="7043EE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9831" y="2999232"/>
            <a:ext cx="3429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上传解析 → 评分 → 总体评价 → 分维度建议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571231" y="3639312"/>
            <a:ext cx="3977639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9831" y="3785615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3B88B"/>
                </a:solidFill>
                <a:latin typeface="微软雅黑" panose="020B0503020204020204" charset="-122"/>
              </a:rPr>
              <a:t>职业助手多轮对话</a:t>
            </a:r>
            <a:endParaRPr sz="1250" b="1">
              <a:solidFill>
                <a:srgbClr val="23B88B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799831" y="4078224"/>
            <a:ext cx="3429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会话 + 消息双表结构，承载多轮上下文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571231" y="4718304"/>
            <a:ext cx="3977639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9831" y="4864608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59A23"/>
                </a:solidFill>
                <a:latin typeface="微软雅黑" panose="020B0503020204020204" charset="-122"/>
              </a:rPr>
              <a:t>自动归档闭环</a:t>
            </a:r>
            <a:endParaRPr sz="125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799831" y="5157216"/>
            <a:ext cx="3429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解读与优化结果自动进入职业助手，可继续追问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" y="6565392"/>
            <a:ext cx="4754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智聘通 · 智能招聘平台    |    毕业设计答辩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018520" y="6565392"/>
            <a:ext cx="548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10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202B3E"/>
                </a:solidFill>
                <a:latin typeface="微软雅黑" panose="020B0503020204020204" charset="-122"/>
              </a:rPr>
              <a:t>爬虫控制台与后台管理</a:t>
            </a:r>
            <a:endParaRPr sz="250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7768F"/>
                </a:solidFill>
                <a:latin typeface="微软雅黑" panose="020B0503020204020204" charset="-122"/>
              </a:rPr>
              <a:t>采集任务可控、结构变化可监测、数据可维护</a:t>
            </a:r>
            <a:endParaRPr sz="10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12648" y="1234440"/>
            <a:ext cx="1051560" cy="45720"/>
          </a:xfrm>
          <a:prstGeom prst="rect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29768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59A23"/>
                </a:solidFill>
                <a:latin typeface="微软雅黑" panose="020B0503020204020204" charset="-122"/>
              </a:rPr>
              <a:t>04</a:t>
            </a:r>
            <a:endParaRPr sz="85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5532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db5d247-79ed-4aad-ad6d-7fb22c5a4d1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175" y="1394460"/>
            <a:ext cx="5699125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1417320"/>
            <a:ext cx="525780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760da869-1486-4f90-81b6-6ee11b8768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815" y="1388110"/>
            <a:ext cx="5434965" cy="30302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" y="4617720"/>
            <a:ext cx="5532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828032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4252EB"/>
                </a:solidFill>
                <a:latin typeface="微软雅黑" panose="020B0503020204020204" charset="-122"/>
              </a:rPr>
              <a:t>爬虫控制台</a:t>
            </a:r>
            <a:endParaRPr sz="1500" b="1">
              <a:solidFill>
                <a:srgbClr val="4252EB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8680" y="5184648"/>
            <a:ext cx="47548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02B3E"/>
                </a:solidFill>
                <a:latin typeface="微软雅黑" panose="020B0503020204020204" charset="-122"/>
              </a:rPr>
              <a:t>关键词 / 城市 / 页数 / 并发线程可配置；自动 / 真实 / 模拟三种模式；结构监测与运行日志。</a:t>
            </a:r>
            <a:endParaRPr sz="105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355080" y="4617720"/>
            <a:ext cx="5257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828032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043EE"/>
                </a:solidFill>
                <a:latin typeface="微软雅黑" panose="020B0503020204020204" charset="-122"/>
              </a:rPr>
              <a:t>管理后台</a:t>
            </a:r>
            <a:endParaRPr sz="1500" b="1">
              <a:solidFill>
                <a:srgbClr val="7043EE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29400" y="5184648"/>
            <a:ext cx="4526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02B3E"/>
                </a:solidFill>
                <a:latin typeface="微软雅黑" panose="020B0503020204020204" charset="-122"/>
              </a:rPr>
              <a:t>用户管理、职位数据管理、爬取任务监控；角色权限隔离，支持数据维护。</a:t>
            </a:r>
            <a:endParaRPr sz="105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" y="6565392"/>
            <a:ext cx="4754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智聘通 · 智能招聘平台    |    毕业设计答辩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018520" y="6565392"/>
            <a:ext cx="548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11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202B3E"/>
                </a:solidFill>
                <a:latin typeface="微软雅黑" panose="020B0503020204020204" charset="-122"/>
              </a:rPr>
              <a:t>项目难点与解决方案</a:t>
            </a:r>
            <a:endParaRPr sz="250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7768F"/>
                </a:solidFill>
                <a:latin typeface="微软雅黑" panose="020B0503020204020204" charset="-122"/>
              </a:rPr>
              <a:t>问题 → 方案 → 结果</a:t>
            </a:r>
            <a:endParaRPr sz="10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12648" y="1234440"/>
            <a:ext cx="1051560" cy="45720"/>
          </a:xfrm>
          <a:prstGeom prst="rect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29768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59A23"/>
                </a:solidFill>
                <a:latin typeface="微软雅黑" panose="020B0503020204020204" charset="-122"/>
              </a:rPr>
              <a:t>06</a:t>
            </a:r>
            <a:endParaRPr sz="85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3154680" cy="502920"/>
          </a:xfrm>
          <a:prstGeom prst="rect">
            <a:avLst/>
          </a:prstGeom>
          <a:solidFill>
            <a:srgbClr val="192744"/>
          </a:solidFill>
          <a:ln w="12700">
            <a:solidFill>
              <a:srgbClr val="19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09344"/>
            <a:ext cx="3154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 panose="020B0503020204020204" charset="-122"/>
              </a:rPr>
              <a:t>遇到问题</a:t>
            </a:r>
            <a:endParaRPr sz="11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721608" y="1481328"/>
            <a:ext cx="3749039" cy="502920"/>
          </a:xfrm>
          <a:prstGeom prst="rect">
            <a:avLst/>
          </a:prstGeom>
          <a:solidFill>
            <a:srgbClr val="192744"/>
          </a:solidFill>
          <a:ln w="12700">
            <a:solidFill>
              <a:srgbClr val="19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1609344"/>
            <a:ext cx="3749039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 panose="020B0503020204020204" charset="-122"/>
              </a:rPr>
              <a:t>解决方案</a:t>
            </a:r>
            <a:endParaRPr sz="11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470648" y="1481328"/>
            <a:ext cx="4069080" cy="502920"/>
          </a:xfrm>
          <a:prstGeom prst="rect">
            <a:avLst/>
          </a:prstGeom>
          <a:solidFill>
            <a:srgbClr val="192744"/>
          </a:solidFill>
          <a:ln w="12700">
            <a:solidFill>
              <a:srgbClr val="19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0648" y="1609344"/>
            <a:ext cx="4069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 panose="020B0503020204020204" charset="-122"/>
              </a:rPr>
              <a:t>优化结果</a:t>
            </a:r>
            <a:endParaRPr sz="11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6928" y="2011680"/>
            <a:ext cx="31546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157984"/>
            <a:ext cx="28986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1">
                <a:solidFill>
                  <a:srgbClr val="202B3E"/>
                </a:solidFill>
                <a:latin typeface="微软雅黑" panose="020B0503020204020204" charset="-122"/>
              </a:rPr>
              <a:t>网站结构变化导致解析失败</a:t>
            </a:r>
            <a:endParaRPr sz="97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721608" y="2011680"/>
            <a:ext cx="37490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9624" y="2157984"/>
            <a:ext cx="3493007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结构变更监测 + 多选择器兜底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70648" y="2011680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98664" y="2157984"/>
            <a:ext cx="38130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采集成功率稳定，快速感知异常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66928" y="2852928"/>
            <a:ext cx="3154680" cy="749808"/>
          </a:xfrm>
          <a:prstGeom prst="rect">
            <a:avLst/>
          </a:prstGeom>
          <a:solidFill>
            <a:srgbClr val="F0F3F9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999232"/>
            <a:ext cx="28986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1">
                <a:solidFill>
                  <a:srgbClr val="202B3E"/>
                </a:solidFill>
                <a:latin typeface="微软雅黑" panose="020B0503020204020204" charset="-122"/>
              </a:rPr>
              <a:t>真实模式无产出 / 被验证码拦截</a:t>
            </a:r>
            <a:endParaRPr sz="97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721608" y="2852928"/>
            <a:ext cx="3749039" cy="749808"/>
          </a:xfrm>
          <a:prstGeom prst="rect">
            <a:avLst/>
          </a:prstGeom>
          <a:solidFill>
            <a:srgbClr val="F0F3F9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9624" y="2999232"/>
            <a:ext cx="3493007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SPA + 手机版双源、人工验证码、auto 自动降级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470648" y="2852928"/>
            <a:ext cx="4069080" cy="749808"/>
          </a:xfrm>
          <a:prstGeom prst="rect">
            <a:avLst/>
          </a:prstGeom>
          <a:solidFill>
            <a:srgbClr val="F0F3F9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98664" y="2999232"/>
            <a:ext cx="38130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演示不中断，兼顾真实与稳定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66928" y="3694176"/>
            <a:ext cx="31546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840480"/>
            <a:ext cx="28986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1">
                <a:solidFill>
                  <a:srgbClr val="202B3E"/>
                </a:solidFill>
                <a:latin typeface="微软雅黑" panose="020B0503020204020204" charset="-122"/>
              </a:rPr>
              <a:t>企业端与求职端逻辑重复</a:t>
            </a:r>
            <a:endParaRPr sz="97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721608" y="3694176"/>
            <a:ext cx="37490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9624" y="3840480"/>
            <a:ext cx="3493007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统一五维评分框架，反转维度复用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470648" y="3694176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98664" y="3840480"/>
            <a:ext cx="38130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代码复用、单一逻辑、易扩展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66928" y="4535424"/>
            <a:ext cx="3154680" cy="749808"/>
          </a:xfrm>
          <a:prstGeom prst="rect">
            <a:avLst/>
          </a:prstGeom>
          <a:solidFill>
            <a:srgbClr val="F0F3F9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4681728"/>
            <a:ext cx="28986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1">
                <a:solidFill>
                  <a:srgbClr val="202B3E"/>
                </a:solidFill>
                <a:latin typeface="微软雅黑" panose="020B0503020204020204" charset="-122"/>
              </a:rPr>
              <a:t>薪资口径不统一</a:t>
            </a:r>
            <a:endParaRPr sz="97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721608" y="4535424"/>
            <a:ext cx="3749039" cy="749808"/>
          </a:xfrm>
          <a:prstGeom prst="rect">
            <a:avLst/>
          </a:prstGeom>
          <a:solidFill>
            <a:srgbClr val="F0F3F9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9624" y="4681728"/>
            <a:ext cx="3493007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统一归一化为 K/月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470648" y="4535424"/>
            <a:ext cx="4069080" cy="749808"/>
          </a:xfrm>
          <a:prstGeom prst="rect">
            <a:avLst/>
          </a:prstGeom>
          <a:solidFill>
            <a:srgbClr val="F0F3F9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98664" y="4681728"/>
            <a:ext cx="38130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实现跨岗位 / 城市 / 学历公平比较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66928" y="5376672"/>
            <a:ext cx="31546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5522976"/>
            <a:ext cx="28986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1">
                <a:solidFill>
                  <a:srgbClr val="202B3E"/>
                </a:solidFill>
                <a:latin typeface="微软雅黑" panose="020B0503020204020204" charset="-122"/>
              </a:rPr>
              <a:t>DeepSeek 输出不稳定</a:t>
            </a:r>
            <a:endParaRPr sz="970" b="1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3721608" y="5376672"/>
            <a:ext cx="37490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9624" y="5522976"/>
            <a:ext cx="3493007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系统提示 + 重试 + JSON 解析 + 模板兜底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470648" y="5376672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D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98664" y="5522976"/>
            <a:ext cx="38130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0" b="0">
                <a:solidFill>
                  <a:srgbClr val="202B3E"/>
                </a:solidFill>
                <a:latin typeface="微软雅黑" panose="020B0503020204020204" charset="-122"/>
              </a:rPr>
              <a:t>AI 返回稳定，符合业务结构</a:t>
            </a:r>
            <a:endParaRPr sz="970" b="0">
              <a:solidFill>
                <a:srgbClr val="202B3E"/>
              </a:solidFill>
              <a:latin typeface="微软雅黑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66928" y="5806440"/>
            <a:ext cx="10972800" cy="411480"/>
          </a:xfrm>
          <a:prstGeom prst="roundRect">
            <a:avLst/>
          </a:prstGeom>
          <a:solidFill>
            <a:srgbClr val="FFF8EB"/>
          </a:solidFill>
          <a:ln w="12700">
            <a:solidFill>
              <a:srgbClr val="F8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5916168"/>
            <a:ext cx="10515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855B18"/>
                </a:solidFill>
                <a:latin typeface="微软雅黑" panose="020B0503020204020204" charset="-122"/>
              </a:rPr>
              <a:t>安全与权限：JWT 携带角色 · BCrypt 密码加密 · 登录失败锁定 · 敏感字段加密 · 三端权限隔离</a:t>
            </a:r>
            <a:endParaRPr sz="980" b="1">
              <a:solidFill>
                <a:srgbClr val="855B18"/>
              </a:solidFill>
              <a:latin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94360" y="6565392"/>
            <a:ext cx="4754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智聘通 · 智能招聘平台    |    毕业设计答辩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018520" y="6565392"/>
            <a:ext cx="548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0">
                <a:solidFill>
                  <a:srgbClr val="67768F"/>
                </a:solidFill>
                <a:latin typeface="微软雅黑" panose="020B0503020204020204" charset="-122"/>
              </a:rPr>
              <a:t>12</a:t>
            </a:r>
            <a:endParaRPr sz="750" b="0">
              <a:solidFill>
                <a:srgbClr val="67768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微软雅黑" panose="020B0503020204020204" charset="-122"/>
              </a:rPr>
              <a:t>项目总结与展望</a:t>
            </a:r>
            <a:endParaRPr sz="2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BBC7DC"/>
                </a:solidFill>
                <a:latin typeface="微软雅黑" panose="020B0503020204020204" charset="-122"/>
              </a:rPr>
              <a:t>完成工程闭环，也明确下一步优化方向</a:t>
            </a:r>
            <a:endParaRPr sz="1050" b="0">
              <a:solidFill>
                <a:srgbClr val="BBC7DC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12648" y="1234440"/>
            <a:ext cx="1051560" cy="45720"/>
          </a:xfrm>
          <a:prstGeom prst="rect">
            <a:avLst/>
          </a:prstGeom>
          <a:solidFill>
            <a:srgbClr val="F59A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0" y="429768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>
                <a:solidFill>
                  <a:srgbClr val="F59A23"/>
                </a:solidFill>
                <a:latin typeface="微软雅黑" panose="020B0503020204020204" charset="-122"/>
              </a:rPr>
              <a:t>07</a:t>
            </a:r>
            <a:endParaRPr sz="85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03520" cy="4480560"/>
          </a:xfrm>
          <a:prstGeom prst="roundRect">
            <a:avLst/>
          </a:prstGeom>
          <a:solidFill>
            <a:srgbClr val="192744"/>
          </a:solidFill>
          <a:ln w="12700">
            <a:solidFill>
              <a:srgbClr val="3B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3736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微软雅黑" panose="020B0503020204020204" charset="-122"/>
              </a:rPr>
              <a:t>已完成</a:t>
            </a:r>
            <a:endParaRPr sz="2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4526280" cy="2354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575"/>
              </a:spcAft>
              <a:defRPr sz="1200">
                <a:solidFill>
                  <a:srgbClr val="D4DFF0"/>
                </a:solidFill>
                <a:latin typeface="微软雅黑" panose="020B0503020204020204" charset="-122"/>
              </a:defRPr>
            </a:pPr>
            <a:r>
              <a:rPr sz="1600"/>
              <a:t>• 多线程爬虫 + 定时任务 + 三种采集模式</a:t>
            </a:r>
            <a:endParaRPr sz="1600"/>
          </a:p>
          <a:p>
            <a:pPr>
              <a:lnSpc>
                <a:spcPct val="160000"/>
              </a:lnSpc>
              <a:spcAft>
                <a:spcPts val="575"/>
              </a:spcAft>
              <a:defRPr sz="1200">
                <a:solidFill>
                  <a:srgbClr val="D4DFF0"/>
                </a:solidFill>
                <a:latin typeface="微软雅黑" panose="020B0503020204020204" charset="-122"/>
              </a:defRPr>
            </a:pPr>
            <a:r>
              <a:rPr sz="1600"/>
              <a:t>• 五维加权推荐 + 企业端候选人匹配</a:t>
            </a:r>
            <a:endParaRPr sz="1600"/>
          </a:p>
          <a:p>
            <a:pPr>
              <a:lnSpc>
                <a:spcPct val="160000"/>
              </a:lnSpc>
              <a:spcAft>
                <a:spcPts val="575"/>
              </a:spcAft>
              <a:defRPr sz="1200">
                <a:solidFill>
                  <a:srgbClr val="D4DFF0"/>
                </a:solidFill>
                <a:latin typeface="微软雅黑" panose="020B0503020204020204" charset="-122"/>
              </a:defRPr>
            </a:pPr>
            <a:r>
              <a:rPr sz="1600"/>
              <a:t>• 岗位解读 / 简历优化 / AI 职业助手</a:t>
            </a:r>
            <a:endParaRPr sz="1600"/>
          </a:p>
          <a:p>
            <a:pPr>
              <a:lnSpc>
                <a:spcPct val="160000"/>
              </a:lnSpc>
              <a:spcAft>
                <a:spcPts val="575"/>
              </a:spcAft>
              <a:defRPr sz="1200">
                <a:solidFill>
                  <a:srgbClr val="D4DFF0"/>
                </a:solidFill>
                <a:latin typeface="微软雅黑" panose="020B0503020204020204" charset="-122"/>
              </a:defRPr>
            </a:pPr>
            <a:r>
              <a:rPr sz="1600"/>
              <a:t>• 市场分析 Dashboard + AI 结论</a:t>
            </a:r>
            <a:endParaRPr sz="1600"/>
          </a:p>
          <a:p>
            <a:pPr>
              <a:lnSpc>
                <a:spcPct val="160000"/>
              </a:lnSpc>
              <a:spcAft>
                <a:spcPts val="575"/>
              </a:spcAft>
              <a:defRPr sz="1200">
                <a:solidFill>
                  <a:srgbClr val="D4DFF0"/>
                </a:solidFill>
                <a:latin typeface="微软雅黑" panose="020B0503020204020204" charset="-122"/>
              </a:defRPr>
            </a:pPr>
            <a:r>
              <a:rPr sz="1600"/>
              <a:t>• pytest 28 例 + 前端构建通过 + 端到端联调</a:t>
            </a:r>
            <a:endParaRPr sz="1600"/>
          </a:p>
        </p:txBody>
      </p:sp>
      <p:sp>
        <p:nvSpPr>
          <p:cNvPr id="10" name="TextBox 9"/>
          <p:cNvSpPr txBox="1"/>
          <p:nvPr/>
        </p:nvSpPr>
        <p:spPr>
          <a:xfrm>
            <a:off x="960120" y="4983480"/>
            <a:ext cx="1371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9A23"/>
                </a:solidFill>
                <a:latin typeface="微软雅黑" panose="020B0503020204020204" charset="-122"/>
              </a:rPr>
              <a:t>个人收获</a:t>
            </a:r>
            <a:endParaRPr sz="16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60120" y="5358384"/>
            <a:ext cx="4526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C1CFE5"/>
                </a:solidFill>
                <a:latin typeface="微软雅黑" panose="020B0503020204020204" charset="-122"/>
              </a:rPr>
              <a:t>前后端分离 · REST API · 数据库建模 · 并发爬虫 · AI API 封装 · 多维算法抽象</a:t>
            </a:r>
            <a:endParaRPr sz="1050" b="0">
              <a:solidFill>
                <a:srgbClr val="C1CFE5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65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3736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0F1930"/>
                </a:solidFill>
                <a:latin typeface="微软雅黑" panose="020B0503020204020204" charset="-122"/>
              </a:rPr>
              <a:t>后续优化</a:t>
            </a:r>
            <a:endParaRPr sz="2100" b="1">
              <a:solidFill>
                <a:srgbClr val="0F1930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83680" y="2331720"/>
            <a:ext cx="4931410" cy="20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80000"/>
              </a:lnSpc>
              <a:spcAft>
                <a:spcPts val="575"/>
              </a:spcAft>
              <a:defRPr sz="1200">
                <a:solidFill>
                  <a:srgbClr val="202B3E"/>
                </a:solidFill>
                <a:latin typeface="微软雅黑" panose="020B0503020204020204" charset="-122"/>
              </a:defRPr>
            </a:pPr>
            <a:r>
              <a:rPr sz="1600"/>
              <a:t>• 多平台聚合 + 定时增量入库，扩大数据规模</a:t>
            </a:r>
            <a:endParaRPr sz="1600"/>
          </a:p>
          <a:p>
            <a:pPr>
              <a:lnSpc>
                <a:spcPct val="180000"/>
              </a:lnSpc>
              <a:spcAft>
                <a:spcPts val="575"/>
              </a:spcAft>
              <a:defRPr sz="1200">
                <a:solidFill>
                  <a:srgbClr val="202B3E"/>
                </a:solidFill>
                <a:latin typeface="微软雅黑" panose="020B0503020204020204" charset="-122"/>
              </a:defRPr>
            </a:pPr>
            <a:r>
              <a:rPr sz="1600"/>
              <a:t>• PostgreSQL + Gunicorn / Nginx 生产化部署</a:t>
            </a:r>
            <a:endParaRPr sz="1600"/>
          </a:p>
          <a:p>
            <a:pPr>
              <a:lnSpc>
                <a:spcPct val="180000"/>
              </a:lnSpc>
              <a:spcAft>
                <a:spcPts val="575"/>
              </a:spcAft>
              <a:defRPr sz="1200">
                <a:solidFill>
                  <a:srgbClr val="202B3E"/>
                </a:solidFill>
                <a:latin typeface="微软雅黑" panose="020B0503020204020204" charset="-122"/>
              </a:defRPr>
            </a:pPr>
            <a:r>
              <a:rPr sz="1600"/>
              <a:t>• Embedding 语义召回 + 协同过滤，提升推荐质量</a:t>
            </a:r>
            <a:endParaRPr sz="1600"/>
          </a:p>
          <a:p>
            <a:pPr>
              <a:lnSpc>
                <a:spcPct val="180000"/>
              </a:lnSpc>
              <a:spcAft>
                <a:spcPts val="575"/>
              </a:spcAft>
              <a:defRPr sz="1200">
                <a:solidFill>
                  <a:srgbClr val="202B3E"/>
                </a:solidFill>
                <a:latin typeface="微软雅黑" panose="020B0503020204020204" charset="-122"/>
              </a:defRPr>
            </a:pPr>
            <a:r>
              <a:rPr sz="1600"/>
              <a:t>• 简历自动投递、薪资预测、更细粒度趋势模型</a:t>
            </a:r>
            <a:endParaRPr sz="1600"/>
          </a:p>
        </p:txBody>
      </p:sp>
      <p:sp>
        <p:nvSpPr>
          <p:cNvPr id="15" name="TextBox 14"/>
          <p:cNvSpPr txBox="1"/>
          <p:nvPr/>
        </p:nvSpPr>
        <p:spPr>
          <a:xfrm>
            <a:off x="6583680" y="5166360"/>
            <a:ext cx="4389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043EE"/>
                </a:solidFill>
                <a:latin typeface="微软雅黑" panose="020B0503020204020204" charset="-122"/>
              </a:rPr>
              <a:t>从“能用”走向“更准、更稳、更可扩展”</a:t>
            </a:r>
            <a:endParaRPr sz="1500" b="1">
              <a:solidFill>
                <a:srgbClr val="7043EE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520440" y="6080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59A23"/>
                </a:solidFill>
                <a:latin typeface="微软雅黑" panose="020B0503020204020204" charset="-122"/>
              </a:rPr>
              <a:t>感谢聆听 · 恳请指正</a:t>
            </a:r>
            <a:endParaRPr sz="1900" b="1">
              <a:solidFill>
                <a:srgbClr val="F59A23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" y="6565392"/>
            <a:ext cx="4754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>
                <a:solidFill>
                  <a:srgbClr val="A4B1C7"/>
                </a:solidFill>
                <a:latin typeface="微软雅黑" panose="020B0503020204020204" charset="-122"/>
              </a:rPr>
              <a:t>智聘通 · 智能招聘平台    |    毕业设计答辩</a:t>
            </a:r>
            <a:endParaRPr sz="750" b="0">
              <a:solidFill>
                <a:srgbClr val="A4B1C7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018520" y="6565392"/>
            <a:ext cx="548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750" b="0">
                <a:solidFill>
                  <a:srgbClr val="A4B1C7"/>
                </a:solidFill>
                <a:latin typeface="微软雅黑" panose="020B0503020204020204" charset="-122"/>
              </a:rPr>
              <a:t>13</a:t>
            </a:r>
            <a:endParaRPr sz="750" b="0">
              <a:solidFill>
                <a:srgbClr val="A4B1C7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3775</Words>
  <Application>WPS 演示</Application>
  <PresentationFormat>On-screen Show (4:3)</PresentationFormat>
  <Paragraphs>553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.</cp:lastModifiedBy>
  <cp:revision>11</cp:revision>
  <dcterms:created xsi:type="dcterms:W3CDTF">2013-01-27T09:14:00Z</dcterms:created>
  <dcterms:modified xsi:type="dcterms:W3CDTF">2026-09-16T07:56:12Z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9D7265AB705F4BBEB6B47B4E4B3C4BB1_12</vt:lpwstr>
  </property>
</Properties>
</file>